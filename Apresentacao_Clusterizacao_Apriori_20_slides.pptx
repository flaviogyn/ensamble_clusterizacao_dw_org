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Clientes</c:v>
                </c:pt>
              </c:strCache>
            </c:strRef>
          </c:tx>
          <c:spPr>
            <a:solidFill>
              <a:srgbClr val="1F978B"/>
            </a:solidFill>
          </c:spPr>
          <c:cat>
            <c:strRef>
              <c:f>Sheet1!$A$2:$A$5</c:f>
              <c:strCache>
                <c:ptCount val="4"/>
                <c:pt idx="0">
                  <c:v>Cluster 0</c:v>
                </c:pt>
                <c:pt idx="1">
                  <c:v>Cluster 1</c:v>
                </c:pt>
                <c:pt idx="2">
                  <c:v>Cluster 2</c:v>
                </c:pt>
                <c:pt idx="3">
                  <c:v>Cluster 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39</c:v>
                </c:pt>
                <c:pt idx="2">
                  <c:v>3</c:v>
                </c:pt>
                <c:pt idx="3">
                  <c:v>47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Cestas</c:v>
                </c:pt>
              </c:strCache>
            </c:strRef>
          </c:tx>
          <c:spPr>
            <a:solidFill>
              <a:srgbClr val="1F978B"/>
            </a:solidFill>
          </c:spPr>
          <c:cat>
            <c:strRef>
              <c:f>Sheet1!$A$2:$A$5</c:f>
              <c:strCache>
                <c:ptCount val="4"/>
                <c:pt idx="0">
                  <c:v>Cluster 0</c:v>
                </c:pt>
                <c:pt idx="1">
                  <c:v>Cluster 1</c:v>
                </c:pt>
                <c:pt idx="2">
                  <c:v>Cluster 2</c:v>
                </c:pt>
                <c:pt idx="3">
                  <c:v>Cluster 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478</c:v>
                </c:pt>
                <c:pt idx="2">
                  <c:v>89</c:v>
                </c:pt>
                <c:pt idx="3">
                  <c:v>263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1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914400"/>
            <a:ext cx="1371600" cy="137160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2011680"/>
            <a:ext cx="777240" cy="777240"/>
          </a:xfrm>
          <a:prstGeom prst="ellipse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2743200"/>
            <a:ext cx="548640" cy="548640"/>
          </a:xfrm>
          <a:prstGeom prst="ellipse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0" y="3657600"/>
            <a:ext cx="1143000" cy="1143000"/>
          </a:xfrm>
          <a:prstGeom prst="ellipse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79" y="4663440"/>
            <a:ext cx="822960" cy="8229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281160" y="1828800"/>
            <a:ext cx="914400" cy="457200"/>
          </a:xfrm>
          <a:prstGeom prst="line">
            <a:avLst/>
          </a:prstGeom>
          <a:ln w="15240">
            <a:solidFill>
              <a:srgbClr val="A0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412480" y="3291840"/>
            <a:ext cx="457200" cy="1371600"/>
          </a:xfrm>
          <a:prstGeom prst="line">
            <a:avLst/>
          </a:prstGeom>
          <a:ln w="15240">
            <a:solidFill>
              <a:srgbClr val="A0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561320" y="2834640"/>
            <a:ext cx="137160" cy="822960"/>
          </a:xfrm>
          <a:prstGeom prst="line">
            <a:avLst/>
          </a:prstGeom>
          <a:ln w="15240">
            <a:solidFill>
              <a:srgbClr val="A0B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914400"/>
            <a:ext cx="7040880" cy="1371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Clusterização de Clientes</a:t>
            </a:r>
          </a:p>
          <a:p>
            <a:pPr>
              <a:spcAft>
                <a:spcPts val="4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e Regras de Associação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66751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C0D6EE"/>
                </a:solidFill>
                <a:latin typeface="Aptos"/>
              </a:defRPr>
            </a:pPr>
            <a:r>
              <a:t>K-Means + Apriori no Data Mart de Vendas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612648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Uma análise dos segmentos de clientes e dos produtos comprados em conjunto.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983480"/>
            <a:ext cx="2011680" cy="438912"/>
          </a:xfrm>
          <a:prstGeom prst="round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4992624"/>
            <a:ext cx="1938528" cy="420623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189 clientes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983480"/>
            <a:ext cx="2011680" cy="438912"/>
          </a:xfrm>
          <a:prstGeom prst="round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4992624"/>
            <a:ext cx="1938528" cy="420623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930 cestas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4983480"/>
            <a:ext cx="2148840" cy="438912"/>
          </a:xfrm>
          <a:prstGeom prst="roundRect">
            <a:avLst/>
          </a:prstGeom>
          <a:solidFill>
            <a:srgbClr val="304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1496" y="4992624"/>
            <a:ext cx="2075688" cy="420623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3.804 regras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217920"/>
            <a:ext cx="7315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B4C4D7"/>
                </a:solidFill>
                <a:latin typeface="Aptos"/>
              </a:defRPr>
            </a:pPr>
            <a:r>
              <a:t>Apresentação ampliada — baseada no Relatório Técnico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62742"/>
                </a:solidFill>
                <a:latin typeface="Aptos"/>
              </a:defRPr>
            </a:pPr>
            <a:r>
              <a:t>1. Problema e objetivo da análise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Transformar histórico transacional em padrões úteis para decisões comerciais.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29000" cy="1508760"/>
          </a:xfrm>
          <a:prstGeom prst="roundRect">
            <a:avLst/>
          </a:prstGeom>
          <a:solidFill>
            <a:srgbClr val="E0EC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8580" cy="15087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09928"/>
            <a:ext cx="3154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62742"/>
                </a:solidFill>
                <a:latin typeface="Aptos"/>
              </a:defRPr>
            </a:pPr>
            <a:r>
              <a:t>Pergunta 1 — Segmentação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93976"/>
            <a:ext cx="3154680" cy="9418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Quais clientes apresentam comportamentos de compra semelhantes?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29000" cy="1508760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68580" cy="150876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709928"/>
            <a:ext cx="3154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62742"/>
                </a:solidFill>
                <a:latin typeface="Aptos"/>
              </a:defRPr>
            </a:pPr>
            <a:r>
              <a:t>Pergunta 2 — Associação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093976"/>
            <a:ext cx="3154680" cy="9418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Quais produtos tendem a aparecer juntos na mesma cesta?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429000" cy="1508760"/>
          </a:xfrm>
          <a:prstGeom prst="roundRect">
            <a:avLst/>
          </a:prstGeom>
          <a:solidFill>
            <a:srgbClr val="FCF1D6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8580" cy="150876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709928"/>
            <a:ext cx="3154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62742"/>
                </a:solidFill>
                <a:latin typeface="Aptos"/>
              </a:defRPr>
            </a:pPr>
            <a:r>
              <a:t>Pergunta 3 — Aplicação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093976"/>
            <a:ext cx="3154680" cy="9418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Como usar esses padrões em promoções e recomendações?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900" b="1">
                <a:solidFill>
                  <a:srgbClr val="162742"/>
                </a:solidFill>
                <a:latin typeface="Aptos"/>
              </a:defRPr>
            </a:pPr>
            <a:r>
              <a:t>Estratégia: primeiro segmentar clientes; depois procurar associações dentro de cada segmento.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4663440"/>
            <a:ext cx="2560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34440" y="4663440"/>
            <a:ext cx="68580" cy="9144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9032" y="4773168"/>
            <a:ext cx="22860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K-Means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5157216"/>
            <a:ext cx="22860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agrupa clientes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40480" y="5120640"/>
            <a:ext cx="777240" cy="0"/>
          </a:xfrm>
          <a:prstGeom prst="line">
            <a:avLst/>
          </a:prstGeom>
          <a:ln w="2286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800600" y="4663440"/>
            <a:ext cx="2560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00600" y="4663440"/>
            <a:ext cx="68580" cy="91440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4773168"/>
            <a:ext cx="22860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Apriori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5157216"/>
            <a:ext cx="22860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descobre associações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06640" y="5120640"/>
            <a:ext cx="777239" cy="0"/>
          </a:xfrm>
          <a:prstGeom prst="line">
            <a:avLst/>
          </a:prstGeom>
          <a:ln w="2286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366760" y="4663440"/>
            <a:ext cx="2560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66760" y="4663440"/>
            <a:ext cx="68580" cy="91440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31352" y="4773168"/>
            <a:ext cx="22860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1352" y="5157216"/>
            <a:ext cx="22860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apoia decisões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62742"/>
                </a:solidFill>
                <a:latin typeface="Aptos"/>
              </a:defRPr>
            </a:pPr>
            <a:r>
              <a:t>2. Arquitetura de dados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As fontes Mercearia e Northwind são integradas antes da mineração.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1828800" cy="1143000"/>
          </a:xfrm>
          <a:prstGeom prst="roundRect">
            <a:avLst/>
          </a:prstGeom>
          <a:solidFill>
            <a:srgbClr val="E0EC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2148840"/>
            <a:ext cx="68580" cy="11430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258568"/>
            <a:ext cx="1554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Mercearia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42616"/>
            <a:ext cx="1554480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Vendas de varejo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58568" y="2715768"/>
            <a:ext cx="274320" cy="0"/>
          </a:xfrm>
          <a:prstGeom prst="line">
            <a:avLst/>
          </a:prstGeom>
          <a:ln w="2286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06040" y="2148840"/>
            <a:ext cx="1828800" cy="1143000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2148840"/>
            <a:ext cx="68580" cy="114300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0632" y="2258568"/>
            <a:ext cx="1554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Northwind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2642616"/>
            <a:ext cx="1554480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Pedidos B2B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53128" y="2715768"/>
            <a:ext cx="274320" cy="0"/>
          </a:xfrm>
          <a:prstGeom prst="line">
            <a:avLst/>
          </a:prstGeom>
          <a:ln w="2286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800600" y="214884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0600" y="2148840"/>
            <a:ext cx="68580" cy="114300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5192" y="2258568"/>
            <a:ext cx="1554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DW Organizacional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192" y="2642616"/>
            <a:ext cx="1554480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Dados integrados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47688" y="2715768"/>
            <a:ext cx="274320" cy="0"/>
          </a:xfrm>
          <a:prstGeom prst="line">
            <a:avLst/>
          </a:prstGeom>
          <a:ln w="2286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95160" y="2148840"/>
            <a:ext cx="1828800" cy="1143000"/>
          </a:xfrm>
          <a:prstGeom prst="roundRect">
            <a:avLst/>
          </a:prstGeom>
          <a:solidFill>
            <a:srgbClr val="FCF1D6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2148840"/>
            <a:ext cx="68580" cy="114300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9752" y="2258568"/>
            <a:ext cx="1554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dm_vendas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9752" y="2642616"/>
            <a:ext cx="1554480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Data Mart analítico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42248" y="2715768"/>
            <a:ext cx="274320" cy="0"/>
          </a:xfrm>
          <a:prstGeom prst="line">
            <a:avLst/>
          </a:prstGeom>
          <a:ln w="2286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89720" y="214884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9720" y="2148840"/>
            <a:ext cx="68580" cy="11430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54312" y="2258568"/>
            <a:ext cx="1554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2642616"/>
            <a:ext cx="1554480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K-Means / Apriori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160520"/>
            <a:ext cx="4663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4160520"/>
            <a:ext cx="68580" cy="109728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" y="4270248"/>
            <a:ext cx="43891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Modelagem dimensional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4654296"/>
            <a:ext cx="438912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Dimensão de clientes, dimensão de produtos e fato de vendas.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160520"/>
            <a:ext cx="4663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4160520"/>
            <a:ext cx="68580" cy="109728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6831" y="4270248"/>
            <a:ext cx="43891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Saídas persistidas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6831" y="4654296"/>
            <a:ext cx="438912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Clusters em `dm_vendas.cliente_cluster`; regras em `dm_vendas.regras_associacao` e 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62742"/>
                </a:solidFill>
                <a:latin typeface="Aptos"/>
              </a:defRPr>
            </a:pPr>
            <a:r>
              <a:t>3. Como os clientes foram representados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Sete atributos resumem recência, recorrência, valor e diversidade.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68580" cy="9144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618488"/>
            <a:ext cx="2834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Recência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002536"/>
            <a:ext cx="2834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Dias desde a última compra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50876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508760"/>
            <a:ext cx="68580" cy="91440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618488"/>
            <a:ext cx="2834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Frequência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002536"/>
            <a:ext cx="2834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Número de transações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50876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508760"/>
            <a:ext cx="68580" cy="91440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1618488"/>
            <a:ext cx="2834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Quantidade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002536"/>
            <a:ext cx="2834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Total de itens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4320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743200"/>
            <a:ext cx="68580" cy="9144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2852928"/>
            <a:ext cx="2834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Valor 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3236976"/>
            <a:ext cx="2834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Gasto acumulado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274320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2743200"/>
            <a:ext cx="68580" cy="91440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2852928"/>
            <a:ext cx="2834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Ticket médio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3236976"/>
            <a:ext cx="2834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Valor por transação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2743200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80960" y="2743200"/>
            <a:ext cx="68580" cy="91440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5552" y="2852928"/>
            <a:ext cx="2834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Produtos distintos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3236976"/>
            <a:ext cx="2834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Variedade de itens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3977639"/>
            <a:ext cx="3108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60520" y="3977639"/>
            <a:ext cx="68580" cy="9144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25112" y="4087368"/>
            <a:ext cx="2834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Categorias distintas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5112" y="4471416"/>
            <a:ext cx="2834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Amplitude de categorias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" y="5394960"/>
            <a:ext cx="2103120" cy="502920"/>
          </a:xfrm>
          <a:prstGeom prst="roundRect">
            <a:avLst/>
          </a:prstGeom>
          <a:solidFill>
            <a:srgbClr val="E0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6" y="5404104"/>
            <a:ext cx="2029967" cy="4846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62742"/>
                </a:solidFill>
                <a:latin typeface="Aptos"/>
              </a:defRPr>
            </a:pPr>
            <a:r>
              <a:t>Variáveis originais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246120" y="5641848"/>
            <a:ext cx="640080" cy="0"/>
          </a:xfrm>
          <a:prstGeom prst="line">
            <a:avLst/>
          </a:prstGeom>
          <a:ln w="2286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977639" y="5394960"/>
            <a:ext cx="2194560" cy="502920"/>
          </a:xfrm>
          <a:prstGeom prst="roundRect">
            <a:avLst/>
          </a:prstGeom>
          <a:solidFill>
            <a:srgbClr val="FCF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14215" y="5404104"/>
            <a:ext cx="2121408" cy="4846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62742"/>
                </a:solidFill>
                <a:latin typeface="Aptos"/>
              </a:defRPr>
            </a:pPr>
            <a:r>
              <a:t>StandardScaler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09360" y="5641848"/>
            <a:ext cx="640080" cy="0"/>
          </a:xfrm>
          <a:prstGeom prst="line">
            <a:avLst/>
          </a:prstGeom>
          <a:ln w="2286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040880" y="5394960"/>
            <a:ext cx="1828800" cy="502920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5404104"/>
            <a:ext cx="1755648" cy="4846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62742"/>
                </a:solidFill>
                <a:latin typeface="Aptos"/>
              </a:defRPr>
            </a:pPr>
            <a:r>
              <a:t>K-Means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5303520"/>
            <a:ext cx="210312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F6E82"/>
                </a:solidFill>
                <a:latin typeface="Aptos"/>
              </a:defRPr>
            </a:pPr>
            <a:r>
              <a:t>A padronização evita que escalas maiores dominem as distâncias.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62742"/>
                </a:solidFill>
                <a:latin typeface="Aptos"/>
              </a:defRPr>
            </a:pPr>
            <a:r>
              <a:t>4. Resultado do K-Means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O algoritmo classificou 189 clientes em quatro grupos.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463040"/>
          <a:ext cx="56692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29400" y="1600200"/>
            <a:ext cx="4754880" cy="914400"/>
          </a:xfrm>
          <a:prstGeom prst="roundRect">
            <a:avLst/>
          </a:prstGeom>
          <a:solidFill>
            <a:srgbClr val="E0EC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9400" y="1600200"/>
            <a:ext cx="68580" cy="9144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09928"/>
            <a:ext cx="44805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Cluster 0 — 100 clientes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3992" y="2093976"/>
            <a:ext cx="44805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Origem predominante: Mercearia.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743200"/>
            <a:ext cx="4754880" cy="914400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743200"/>
            <a:ext cx="68580" cy="91440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852928"/>
            <a:ext cx="44805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Clusters 1 e 3 — 86 clientes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3236976"/>
            <a:ext cx="44805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39 e 47 clientes; origem predominante Northwind.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3886200"/>
            <a:ext cx="4754880" cy="914400"/>
          </a:xfrm>
          <a:prstGeom prst="roundRect">
            <a:avLst/>
          </a:prstGeom>
          <a:solidFill>
            <a:srgbClr val="FCF1D6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29400" y="3886200"/>
            <a:ext cx="68580" cy="91440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3992" y="3995928"/>
            <a:ext cx="44805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Cluster 2 — 3 clientes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3992" y="4379976"/>
            <a:ext cx="44805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Grupo pequeno; resultados devem ser interpretados com cautela.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5257800"/>
            <a:ext cx="43891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F6E82"/>
                </a:solidFill>
                <a:latin typeface="Aptos"/>
              </a:defRPr>
            </a:pPr>
            <a:r>
              <a:t>Os números dos clusters são rótulos, não uma escala de qualidade.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62742"/>
                </a:solidFill>
                <a:latin typeface="Aptos"/>
              </a:defRPr>
            </a:pPr>
            <a:r>
              <a:t>5. Preparar a cesta de compra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O Apriori precisa saber quais produtos pertencem ao mesmo pedido.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3154680" cy="1600200"/>
          </a:xfrm>
          <a:prstGeom prst="roundRect">
            <a:avLst/>
          </a:prstGeom>
          <a:solidFill>
            <a:srgbClr val="FAE5E5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45920"/>
            <a:ext cx="68580" cy="160020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55648"/>
            <a:ext cx="28803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Incorreto: linha da fato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39696"/>
            <a:ext cx="2880360" cy="103327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Linha 1 → Arroz</a:t>
            </a:r>
          </a:p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Linha 2 → Feijão</a:t>
            </a:r>
          </a:p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Linha 3 → Café</a:t>
            </a:r>
          </a:p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Cada linha pareceria uma cesta isolada.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6200" y="2423160"/>
            <a:ext cx="731520" cy="0"/>
          </a:xfrm>
          <a:prstGeom prst="line">
            <a:avLst/>
          </a:prstGeom>
          <a:ln w="2286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09160" y="1645920"/>
            <a:ext cx="2743200" cy="1600200"/>
          </a:xfrm>
          <a:prstGeom prst="roundRect">
            <a:avLst/>
          </a:prstGeom>
          <a:solidFill>
            <a:srgbClr val="FCF1D6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60" y="1645920"/>
            <a:ext cx="68580" cy="160020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2" y="1755648"/>
            <a:ext cx="24688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Correção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2139696"/>
            <a:ext cx="2468880" cy="103327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Agrupar pelo identificador do pedido e pelo sistema de origem.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89520" y="2423160"/>
            <a:ext cx="731520" cy="0"/>
          </a:xfrm>
          <a:prstGeom prst="line">
            <a:avLst/>
          </a:prstGeom>
          <a:ln w="2286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0" y="1645920"/>
            <a:ext cx="3154680" cy="1600200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1645920"/>
            <a:ext cx="68580" cy="160020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1755648"/>
            <a:ext cx="28803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Cesta correta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139696"/>
            <a:ext cx="2880360" cy="103327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Pedido 51 → Arroz + Feijão + Café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114800"/>
            <a:ext cx="4572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114800"/>
            <a:ext cx="68580" cy="10515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224528"/>
            <a:ext cx="4297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Mercearia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608576"/>
            <a:ext cx="4297680" cy="4846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100 pedidos; média de 10 itens por cesta.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4114800"/>
            <a:ext cx="4572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37960" y="4114800"/>
            <a:ext cx="68580" cy="105156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2" y="4224528"/>
            <a:ext cx="4297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Northwind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4608576"/>
            <a:ext cx="4297680" cy="4846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830 pedidos; cestas geralmente com 2–3 itens.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Total: 930 cestas. O prefixo da origem evita que IDs iguais de sistemas diferentes colidam.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62742"/>
                </a:solidFill>
                <a:latin typeface="Aptos"/>
              </a:defRPr>
            </a:pPr>
            <a:r>
              <a:t>6. Parâmetros do Apriori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Os limites determinam quais conjuntos e regras são considerados relevantes.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1645920"/>
          </a:xfrm>
          <a:prstGeom prst="roundRect">
            <a:avLst/>
          </a:prstGeom>
          <a:solidFill>
            <a:srgbClr val="E0EC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8580" cy="164592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55648"/>
            <a:ext cx="30632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62742"/>
                </a:solidFill>
                <a:latin typeface="Aptos"/>
              </a:defRPr>
            </a:pPr>
            <a:r>
              <a:t>Suporte mínimo = 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39696"/>
            <a:ext cx="3063240" cy="10789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O conjunto deve aparecer em pelo menos 5% das cestas do cluster.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337560" cy="1645920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68580" cy="164592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755648"/>
            <a:ext cx="30632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62742"/>
                </a:solidFill>
                <a:latin typeface="Aptos"/>
              </a:defRPr>
            </a:pPr>
            <a:r>
              <a:t>Confiança mínima = 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139696"/>
            <a:ext cx="3063240" cy="10789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O consequente deve ocorrer em pelo menos 30% das cestas que contêm o antecedente.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337560" cy="1645920"/>
          </a:xfrm>
          <a:prstGeom prst="roundRect">
            <a:avLst/>
          </a:prstGeom>
          <a:solidFill>
            <a:srgbClr val="FCF1D6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68580" cy="164592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755648"/>
            <a:ext cx="30632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62742"/>
                </a:solidFill>
                <a:latin typeface="Aptos"/>
              </a:defRPr>
            </a:pPr>
            <a:r>
              <a:t>Lift mínimo = 1,00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139696"/>
            <a:ext cx="3063240" cy="10789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Mantém regras com associação não inferior à expectativa de independência.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69080"/>
            <a:ext cx="101498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62742"/>
                </a:solidFill>
                <a:latin typeface="Aptos"/>
              </a:defRPr>
            </a:pPr>
            <a:r>
              <a:t>Com 100 cestas, 5% correspondem a 5 cestas. Com 478 cestas, são necessárias aproximadamente 24 ocorrências.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800600"/>
            <a:ext cx="10058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4800600"/>
            <a:ext cx="68580" cy="77724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4910328"/>
            <a:ext cx="97840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Consequência prática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5294376"/>
            <a:ext cx="9784080" cy="21031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O mesmo suporte percentual pode ser mais difícil de atingir em cestas pequenas e catálogos diversificados.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62742"/>
                </a:solidFill>
                <a:latin typeface="Aptos"/>
              </a:defRPr>
            </a:pPr>
            <a:r>
              <a:t>7. Leitura das métricas de uma regra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Suporte, confiança e lift respondem a perguntas diferentes.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29000" cy="1874519"/>
          </a:xfrm>
          <a:prstGeom prst="roundRect">
            <a:avLst/>
          </a:prstGeom>
          <a:solidFill>
            <a:srgbClr val="E0EC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1874519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664207"/>
            <a:ext cx="3154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62742"/>
                </a:solidFill>
                <a:latin typeface="Aptos"/>
              </a:defRPr>
            </a:pPr>
            <a:r>
              <a:t>Suporte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048256"/>
            <a:ext cx="3154680" cy="130759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Qual proporção de todas as cestas contém o conjunto de produtos?</a:t>
            </a:r>
          </a:p>
          <a:p>
            <a:pPr>
              <a:spcAft>
                <a:spcPts val="400"/>
              </a:spcAft>
              <a:defRPr sz="1300" b="0">
                <a:solidFill>
                  <a:srgbClr val="2A34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0,16 = 16% das cestas.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29000" cy="1874519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68580" cy="1874519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64207"/>
            <a:ext cx="3154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62742"/>
                </a:solidFill>
                <a:latin typeface="Aptos"/>
              </a:defRPr>
            </a:pPr>
            <a:r>
              <a:t>Confiança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048256"/>
            <a:ext cx="3154680" cy="130759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Quando o antecedente aparece, com que frequência aparece o consequente?</a:t>
            </a:r>
          </a:p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1,00 = 100%.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429000" cy="1874519"/>
          </a:xfrm>
          <a:prstGeom prst="roundRect">
            <a:avLst/>
          </a:prstGeom>
          <a:solidFill>
            <a:srgbClr val="FCF1D6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68580" cy="1874519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664207"/>
            <a:ext cx="3154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62742"/>
                </a:solidFill>
                <a:latin typeface="Aptos"/>
              </a:defRPr>
            </a:pPr>
            <a:r>
              <a:t>Lift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048256"/>
            <a:ext cx="3154680" cy="130759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Quanto a ocorrência do consequente se eleva em relação à expectativa de independência?</a:t>
            </a:r>
          </a:p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5,00 = 5 vezes.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2468880" cy="640080"/>
          </a:xfrm>
          <a:prstGeom prst="roundRect">
            <a:avLst/>
          </a:prstGeom>
          <a:solidFill>
            <a:srgbClr val="FA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169663"/>
            <a:ext cx="2395728" cy="6217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BE4B4B"/>
                </a:solidFill>
                <a:latin typeface="Aptos"/>
              </a:defRPr>
            </a:pPr>
            <a:r>
              <a:t>Lift &lt; 1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BE4B4B"/>
                </a:solidFill>
                <a:latin typeface="Aptos"/>
              </a:defRPr>
            </a:pPr>
            <a:r>
              <a:t>Associação negativa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4760" y="4160520"/>
            <a:ext cx="2468880" cy="640080"/>
          </a:xfrm>
          <a:prstGeom prst="roundRect">
            <a:avLst/>
          </a:prstGeom>
          <a:solidFill>
            <a:srgbClr val="E7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31336" y="4169663"/>
            <a:ext cx="2395728" cy="6217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2A3441"/>
                </a:solidFill>
                <a:latin typeface="Aptos"/>
              </a:defRPr>
            </a:pPr>
            <a:r>
              <a:t>Lift = 1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2A3441"/>
                </a:solidFill>
                <a:latin typeface="Aptos"/>
              </a:defRPr>
            </a:pPr>
            <a:r>
              <a:t>Independência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4160520"/>
            <a:ext cx="2468880" cy="640080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4169663"/>
            <a:ext cx="2395728" cy="6217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F978B"/>
                </a:solidFill>
                <a:latin typeface="Aptos"/>
              </a:defRPr>
            </a:pPr>
            <a:r>
              <a:t>Lift &gt; 1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1F978B"/>
                </a:solidFill>
                <a:latin typeface="Aptos"/>
              </a:defRPr>
            </a:pPr>
            <a:r>
              <a:t>Associação positiva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4069080"/>
            <a:ext cx="192024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F6E82"/>
                </a:solidFill>
                <a:latin typeface="Aptos"/>
              </a:defRPr>
            </a:pPr>
            <a:r>
              <a:t>Lift não é negativo; “negativa” descreve a associação quando lift &lt; 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62742"/>
                </a:solidFill>
                <a:latin typeface="Aptos"/>
              </a:defRPr>
            </a:pPr>
            <a:r>
              <a:t>8. Resultado consolidado por cluster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A execução principal encontrou regras apenas no Cluster 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01955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828800"/>
                <a:gridCol w="1280160"/>
                <a:gridCol w="1280160"/>
                <a:gridCol w="1280160"/>
                <a:gridCol w="1554480"/>
                <a:gridCol w="1828800"/>
              </a:tblGrid>
              <a:tr h="5638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Cluster</a:t>
                      </a:r>
                    </a:p>
                  </a:txBody>
                  <a:tcPr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Origem</a:t>
                      </a:r>
                    </a:p>
                  </a:txBody>
                  <a:tcPr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Clientes</a:t>
                      </a:r>
                    </a:p>
                  </a:txBody>
                  <a:tcPr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Cestas</a:t>
                      </a:r>
                    </a:p>
                  </a:txBody>
                  <a:tcPr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Produtos</a:t>
                      </a:r>
                    </a:p>
                  </a:txBody>
                  <a:tcPr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Itens ≥5%</a:t>
                      </a:r>
                    </a:p>
                  </a:txBody>
                  <a:tcPr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Regras</a:t>
                      </a:r>
                    </a:p>
                  </a:txBody>
                  <a:tcPr>
                    <a:solidFill>
                      <a:srgbClr val="162742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Mercearia</a:t>
                      </a:r>
                    </a:p>
                  </a:txBody>
                  <a:tcPr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E0E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3.804</a:t>
                      </a:r>
                    </a:p>
                  </a:txBody>
                  <a:tcPr>
                    <a:solidFill>
                      <a:srgbClr val="E0ECFA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Northwind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Northwind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Northwind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189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930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441"/>
                          </a:solidFill>
                        </a:defRPr>
                      </a:pPr>
                      <a:r>
                        <a:t>3.804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394960"/>
            <a:ext cx="10241280" cy="594360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5394960"/>
            <a:ext cx="68580" cy="59436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5504688"/>
            <a:ext cx="9966959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Leitura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5888736"/>
            <a:ext cx="9966959" cy="27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A3441"/>
                </a:solidFill>
                <a:latin typeface="Aptos"/>
              </a:defRPr>
            </a:pPr>
            <a:r>
              <a:t>3.804 regras representam a saída do Cluster 0; não uma distribuição uniforme entre os quatro clusters.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62742"/>
                </a:solidFill>
                <a:latin typeface="Aptos"/>
              </a:defRPr>
            </a:pPr>
            <a:r>
              <a:t>9. Por que o Cluster 0 gerou tantas regras?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A estrutura das cestas e a frequência dos produtos favorecem coocorrências.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1280160"/>
          </a:xfrm>
          <a:prstGeom prst="roundRect">
            <a:avLst/>
          </a:prstGeom>
          <a:solidFill>
            <a:srgbClr val="E0EC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68580" cy="12801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64207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Cestas maiores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48256"/>
            <a:ext cx="3108960" cy="7132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Exatamente 10 itens por cesta, segundo o relatório.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1280160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68580" cy="128016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64207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Catálogo concentrado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048256"/>
            <a:ext cx="3108960" cy="7132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100 produtos no total; 40 aparecem com suporte de pelo menos 5%.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383280" cy="1280160"/>
          </a:xfrm>
          <a:prstGeom prst="roundRect">
            <a:avLst/>
          </a:prstGeom>
          <a:solidFill>
            <a:srgbClr val="FCF1D6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68580" cy="128016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664207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Padrões triplos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048256"/>
            <a:ext cx="3108960" cy="7132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A maior densidade de itens permite descobrir conjuntos de três produtos.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57600"/>
            <a:ext cx="100584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62742"/>
                </a:solidFill>
                <a:latin typeface="Aptos"/>
              </a:defRPr>
            </a:pPr>
            <a:r>
              <a:t>Resultado descrito no relatório: regras com suporte de 16%, confiança de 100% e lift de 5,00.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480560"/>
            <a:ext cx="10058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4480560"/>
            <a:ext cx="68580" cy="91440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4590288"/>
            <a:ext cx="97840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Interpretação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974336"/>
            <a:ext cx="97840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Esses valores descrevem as regras destacadas no top 20; o relatório informa que, no conjunto das 3.804 regras, a confiança varia de 0,30 a 1,00 e o lift de 1,00 a 5,00.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62742"/>
                </a:solidFill>
                <a:latin typeface="Aptos"/>
              </a:defRPr>
            </a:pPr>
            <a:r>
              <a:t>10. Regra em destaque: achocolatado + água sanitária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Uma associação real do Cluster 0, com métricas reportadas no documento.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840480" cy="1325880"/>
          </a:xfrm>
          <a:prstGeom prst="roundRect">
            <a:avLst/>
          </a:prstGeom>
          <a:solidFill>
            <a:srgbClr val="E0EC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8580" cy="132588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55648"/>
            <a:ext cx="35661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Antecedentes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139696"/>
            <a:ext cx="3566160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Achocolatado 400 g — Marca A</a:t>
            </a:r>
          </a:p>
          <a:p>
            <a:pPr>
              <a:spcAft>
                <a:spcPts val="4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Água Sanitária 1 L — Marca 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2286000"/>
            <a:ext cx="731520" cy="0"/>
          </a:xfrm>
          <a:prstGeom prst="line">
            <a:avLst/>
          </a:prstGeom>
          <a:ln w="2286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94960" y="1645920"/>
            <a:ext cx="2834640" cy="1325880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94960" y="1645920"/>
            <a:ext cx="68580" cy="132588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9552" y="1755648"/>
            <a:ext cx="25603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Consequente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9552" y="2139696"/>
            <a:ext cx="2560320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Água Mineral 1,5 L — Marca 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57600"/>
            <a:ext cx="2926080" cy="1051560"/>
          </a:xfrm>
          <a:prstGeom prst="roundRect">
            <a:avLst/>
          </a:prstGeom>
          <a:solidFill>
            <a:srgbClr val="E0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39"/>
            <a:ext cx="2743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2600" b="1">
                <a:solidFill>
                  <a:srgbClr val="2D69B4"/>
                </a:solidFill>
                <a:latin typeface="Aptos"/>
              </a:defRPr>
            </a:pPr>
            <a:r>
              <a:t>16%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60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Suporte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657600"/>
            <a:ext cx="2926080" cy="1051560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79" y="3749039"/>
            <a:ext cx="2743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2600" b="1">
                <a:solidFill>
                  <a:srgbClr val="1F978B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4251960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Confiança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3657600"/>
            <a:ext cx="2926080" cy="1051560"/>
          </a:xfrm>
          <a:prstGeom prst="roundRect">
            <a:avLst/>
          </a:prstGeom>
          <a:solidFill>
            <a:srgbClr val="FCF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3749039"/>
            <a:ext cx="27432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2600" b="1">
                <a:solidFill>
                  <a:srgbClr val="EFAD36"/>
                </a:solidFill>
                <a:latin typeface="Aptos"/>
              </a:defRPr>
            </a:pPr>
            <a:r>
              <a:t>5,00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4251960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Lift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166360"/>
            <a:ext cx="10149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5166360"/>
            <a:ext cx="68580" cy="77724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5276088"/>
            <a:ext cx="9875519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Em linguagem de negócio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660136"/>
            <a:ext cx="9875519" cy="21031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16% das cestas do cluster continham os três itens; nas cestas com os dois antecedentes, o consequente também apareceu.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62742"/>
                </a:solidFill>
                <a:latin typeface="Aptos"/>
              </a:defRPr>
            </a:pPr>
            <a:r>
              <a:t>11. O que essa regra permite — e não permite — concluir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Uma regra forte é evidência de coocorrência, não prova de causalidade.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29200" cy="1371600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8580" cy="137160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55648"/>
            <a:ext cx="47548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O que os dados sustentam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39696"/>
            <a:ext cx="4754880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Os produtos coocorrem com frequência; o lift indica associação muito acima da independência.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029200" cy="1371600"/>
          </a:xfrm>
          <a:prstGeom prst="roundRect">
            <a:avLst/>
          </a:prstGeom>
          <a:solidFill>
            <a:srgbClr val="FAE5E5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68580" cy="137160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755648"/>
            <a:ext cx="47548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O que não sustentam sozinhos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139696"/>
            <a:ext cx="4754880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Não provam que um produto causa a compra do outro, nem garantem o mesmo resultado em outros períodos.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9476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794760"/>
            <a:ext cx="68580" cy="11430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904488"/>
            <a:ext cx="28803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Teste A/B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288536"/>
            <a:ext cx="2880360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Validar se uma promoção combinada aumenta vendas.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79476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3794760"/>
            <a:ext cx="68580" cy="114300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0872" y="3904488"/>
            <a:ext cx="28803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Margem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4288536"/>
            <a:ext cx="2880360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Avaliar lucro, descontos e canibalização.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794760"/>
            <a:ext cx="3154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3794760"/>
            <a:ext cx="68580" cy="114300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3904488"/>
            <a:ext cx="28803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Estabilidade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288536"/>
            <a:ext cx="2880360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Verificar se o padrão se repete em outras janelas temporais.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62742"/>
                </a:solidFill>
                <a:latin typeface="Aptos"/>
              </a:defRPr>
            </a:pPr>
            <a:r>
              <a:t>12. Regras encontradas — exemplos 1 a 5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As cinco regras abaixo aparecem no top 20 do relatório; métricas iguais nas listadas.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8580" cy="694944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27048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11095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Achocolatado 400g + Água Sanitária 1L  → Água Mineral 1,5L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490472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34855" y="1499616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76856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276856"/>
            <a:ext cx="68580" cy="694944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386584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770632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Açúcar 1kg + Desinfetante 1L  → Creme Dental 90g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350008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5" y="2359152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36391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136391"/>
            <a:ext cx="68580" cy="694944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246120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630168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Água Mineral 1,5L + Escova Dental  → Água Sanitária 1L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3209544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5" y="3218687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995928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995928"/>
            <a:ext cx="68580" cy="694944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4105656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489704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Água Sanitária 1L + Café 500g  → Escova Dental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4069080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34855" y="4078224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855464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855464"/>
            <a:ext cx="68580" cy="694944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4965192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5349240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Amaciante 2L + Feijão Carioca 1kg  → Condicionador 350ml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4928616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4855" y="4937759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97880"/>
            <a:ext cx="102412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5F6E82"/>
                </a:solidFill>
                <a:latin typeface="Aptos"/>
              </a:defRPr>
            </a:pPr>
            <a:r>
              <a:t>Ordem das métricas: suporte | confiança | lift.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62742"/>
                </a:solidFill>
                <a:latin typeface="Aptos"/>
              </a:defRPr>
            </a:pPr>
            <a:r>
              <a:t>13. Regras encontradas — exemplos 6 a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Combinações adicionais que ilustram a diversidade de categorias.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8580" cy="694944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27048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11095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Condicionador 350ml + Iogurte Natural  → Amaciante 2L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490472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34855" y="1499616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76856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276856"/>
            <a:ext cx="68580" cy="694944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386584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770632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Amaciante 2L + Sardinha 125g  → Iogurte Natural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350008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5" y="2359152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36391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136391"/>
            <a:ext cx="68580" cy="694944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246120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630168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Arroz 5kg + Sabão em Pó 1kg  → Shampoo 350ml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3209544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5" y="3218687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995928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995928"/>
            <a:ext cx="68580" cy="694944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4105656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489704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Atum 170g + Desinfetante 1L  → Refrigerante 2L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4069080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34855" y="4078224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855464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855464"/>
            <a:ext cx="68580" cy="694944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4965192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5349240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Cerveja 350ml + Esponja 3un  → Papel Toalha 2un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4928616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4855" y="4937759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97880"/>
            <a:ext cx="102412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5F6E82"/>
                </a:solidFill>
                <a:latin typeface="Aptos"/>
              </a:defRPr>
            </a:pPr>
            <a:r>
              <a:t>Essas associações são extraídas do top 20 do relatório técnico.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62742"/>
                </a:solidFill>
                <a:latin typeface="Aptos"/>
              </a:defRPr>
            </a:pPr>
            <a:r>
              <a:t>14. Regras encontradas — exemplos 11 a 15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O antecedente pode conter dois itens; o consequente é o item associado.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8580" cy="694944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27048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11095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Manteiga 200g + Papel Toalha 2un  → Cerveja 350ml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490472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34855" y="1499616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76856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276856"/>
            <a:ext cx="68580" cy="694944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386584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770632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Creme Dental 90g + Refrigerante 2L  → Desinfetante 1L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350008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5" y="2359152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36391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136391"/>
            <a:ext cx="68580" cy="694944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246120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630168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Leite Integral 1L + Papel Higiênico 4un  → Desodorante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3209544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5" y="3218687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995928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995928"/>
            <a:ext cx="68580" cy="694944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4105656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489704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Desodorante + Suco de Uva 1L  → Papel Higiênico 4un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4069080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34855" y="4078224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855464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855464"/>
            <a:ext cx="68580" cy="694944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4965192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5349240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Queijo Mussarela 500g + Sabonete 90g  → Detergente 500ml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4928616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4855" y="4937759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97880"/>
            <a:ext cx="102412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5F6E82"/>
                </a:solidFill>
                <a:latin typeface="Aptos"/>
              </a:defRPr>
            </a:pPr>
            <a:r>
              <a:t>As métricas reportadas para as 20 regras destacadas são suporte 0,16, confiança 1,00 e lift 5,00.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62742"/>
                </a:solidFill>
                <a:latin typeface="Aptos"/>
              </a:defRPr>
            </a:pPr>
            <a:r>
              <a:t>15. Regras encontradas — exemplos 16 a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Mais exemplos do padrão recorrente de associações no Cluster 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8580" cy="694944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27048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11095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Detergente 500ml + Saco de Lixo 30L  → Sabonete 90g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490472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34855" y="1499616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76856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276856"/>
            <a:ext cx="68580" cy="694944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386584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770632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Óleo de Soja 900ml + Papel Toalha 2un  → Esponja 3un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350008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5" y="2359152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36391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136391"/>
            <a:ext cx="68580" cy="694944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246120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630168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Macarrão Espaguete 500g + Sabonete 90g  → Saco de Lixo 30L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3209544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5" y="3218687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995928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995928"/>
            <a:ext cx="68580" cy="694944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4105656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489704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Margarina 500g + Papel Higiênico 4un  → Suco de Uva 1L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4069080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34855" y="4078224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855464"/>
            <a:ext cx="81381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855464"/>
            <a:ext cx="68580" cy="694944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4965192"/>
            <a:ext cx="7863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Regra 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5349240"/>
            <a:ext cx="786384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Presunto 500g + Shampoo 350ml  → Sabão em Pó 1kg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4928616"/>
            <a:ext cx="2286000" cy="512064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4855" y="4937759"/>
            <a:ext cx="2212848" cy="49377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742"/>
                </a:solidFill>
                <a:latin typeface="Aptos"/>
              </a:defRPr>
            </a:pPr>
            <a:r>
              <a:t>16% | 100% | Lift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97880"/>
            <a:ext cx="102412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5F6E82"/>
                </a:solidFill>
                <a:latin typeface="Aptos"/>
              </a:defRPr>
            </a:pPr>
            <a:r>
              <a:t>Os itens atravessam categorias de alimentos, higiene e limpeza; isso pode inspirar testes de cross-selling.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62742"/>
                </a:solidFill>
                <a:latin typeface="Aptos"/>
              </a:defRPr>
            </a:pPr>
            <a:r>
              <a:t>16. Por que os clusters Northwind não geraram regras?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Com os limites principais, os clusters 1, 2 e 3 retornaram zero regras.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17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50876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1645920"/>
            <a:ext cx="4937760" cy="914400"/>
          </a:xfrm>
          <a:prstGeom prst="roundRect">
            <a:avLst/>
          </a:prstGeom>
          <a:solidFill>
            <a:srgbClr val="E0EC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68580" cy="9144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755648"/>
            <a:ext cx="46634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Cestas menores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139696"/>
            <a:ext cx="46634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Em geral, 2–3 produtos por pedido na Northwind.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788920"/>
            <a:ext cx="4937760" cy="914400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788920"/>
            <a:ext cx="68580" cy="91440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898648"/>
            <a:ext cx="46634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Catálogo diversificado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282696"/>
            <a:ext cx="46634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77 produtos no Cluster 1; os itens aparecem em frações pequenas dos pedidos.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931920"/>
            <a:ext cx="4937760" cy="914400"/>
          </a:xfrm>
          <a:prstGeom prst="roundRect">
            <a:avLst/>
          </a:prstGeom>
          <a:solidFill>
            <a:srgbClr val="FCF1D6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931920"/>
            <a:ext cx="68580" cy="91440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041648"/>
            <a:ext cx="46634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Limiar de 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4425696"/>
            <a:ext cx="46634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No Cluster 1, são necessárias cerca de 24 coocorrências para atingir 5%.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166360"/>
            <a:ext cx="46634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62742"/>
                </a:solidFill>
                <a:latin typeface="Aptos"/>
              </a:defRPr>
            </a:pPr>
            <a:r>
              <a:t>Zero regras não significa zero padrões: pode significar que os limites estão altos para esses dados.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62742"/>
                </a:solidFill>
                <a:latin typeface="Aptos"/>
              </a:defRPr>
            </a:pPr>
            <a:r>
              <a:t>17. Teste de sensibilidade: reduzir o suporte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O relatório registra que suportes entre 1% e 2% revelaram regras específicas.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2286000" cy="685800"/>
          </a:xfrm>
          <a:prstGeom prst="roundRect">
            <a:avLst/>
          </a:prstGeom>
          <a:solidFill>
            <a:srgbClr val="FA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655064"/>
            <a:ext cx="2212848" cy="6675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BE4B4B"/>
                </a:solidFill>
                <a:latin typeface="Aptos"/>
              </a:defRPr>
            </a:pPr>
            <a:r>
              <a:t>Suporte 5%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0" y="1984248"/>
            <a:ext cx="868680" cy="0"/>
          </a:xfrm>
          <a:prstGeom prst="line">
            <a:avLst/>
          </a:prstGeom>
          <a:ln w="2286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89120" y="1645920"/>
            <a:ext cx="2286000" cy="685800"/>
          </a:xfrm>
          <a:prstGeom prst="roundRect">
            <a:avLst/>
          </a:prstGeom>
          <a:solidFill>
            <a:srgbClr val="DE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655064"/>
            <a:ext cx="2212848" cy="6675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F978B"/>
                </a:solidFill>
                <a:latin typeface="Aptos"/>
              </a:defRPr>
            </a:pPr>
            <a:r>
              <a:t>Suporte 1–2%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1984248"/>
            <a:ext cx="868679" cy="0"/>
          </a:xfrm>
          <a:prstGeom prst="line">
            <a:avLst/>
          </a:prstGeom>
          <a:ln w="22860">
            <a:solidFill>
              <a:srgbClr val="5F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863840" y="1645920"/>
            <a:ext cx="2743200" cy="685800"/>
          </a:xfrm>
          <a:prstGeom prst="roundRect">
            <a:avLst/>
          </a:prstGeom>
          <a:solidFill>
            <a:srgbClr val="FCF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0415" y="1655064"/>
            <a:ext cx="2670048" cy="6675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62742"/>
                </a:solidFill>
                <a:latin typeface="Aptos"/>
              </a:defRPr>
            </a:pPr>
            <a:r>
              <a:t>Mais padrões elegíveis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926080"/>
            <a:ext cx="4754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26080"/>
            <a:ext cx="68580" cy="132588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035808"/>
            <a:ext cx="44805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62742"/>
                </a:solidFill>
                <a:latin typeface="Aptos"/>
              </a:defRPr>
            </a:pPr>
            <a:r>
              <a:t>Exemplo registrado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419856"/>
            <a:ext cx="4480560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A3441"/>
                </a:solidFill>
                <a:latin typeface="Aptos"/>
              </a:defRPr>
            </a:pPr>
            <a:r>
              <a:t>{Chai} → {Flotemysost}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926080"/>
            <a:ext cx="4754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926080"/>
            <a:ext cx="68580" cy="132588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035808"/>
            <a:ext cx="44805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Trade-off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419856"/>
            <a:ext cx="4480560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Reduzir o suporte pode revelar associações raras, mas também aumentar o risco de padrões instáveis.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74920"/>
            <a:ext cx="100584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Ajustar o parâmetro deve ser acompanhado por avaliação de confiança, lift, quantidade de ocorrências e estabilidade.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62742"/>
                </a:solidFill>
                <a:latin typeface="Aptos"/>
              </a:defRPr>
            </a:pPr>
            <a:r>
              <a:t>18. Como transformar as regras em ações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F6E82"/>
                </a:solidFill>
                <a:latin typeface="Aptos"/>
              </a:defRPr>
            </a:pPr>
            <a:r>
              <a:t>As regras são hipóteses acionáveis; devem ser validadas antes de escalar.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F6E82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74720" cy="1508760"/>
          </a:xfrm>
          <a:prstGeom prst="roundRect">
            <a:avLst/>
          </a:prstGeom>
          <a:solidFill>
            <a:srgbClr val="E0EC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150876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664207"/>
            <a:ext cx="32004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Promoções cruzadas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048256"/>
            <a:ext cx="3200400" cy="9418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Ofertas combinadas entre itens antecedentes e consequentes.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474720" cy="1508760"/>
          </a:xfrm>
          <a:prstGeom prst="roundRect">
            <a:avLst/>
          </a:prstGeom>
          <a:solidFill>
            <a:srgbClr val="DEF4E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68580" cy="150876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664207"/>
            <a:ext cx="32004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Recomendação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48256"/>
            <a:ext cx="3200400" cy="9418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Sugerir o consequente no checkout quando o antecedente estiver no carrinho.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474720" cy="1508760"/>
          </a:xfrm>
          <a:prstGeom prst="roundRect">
            <a:avLst/>
          </a:prstGeom>
          <a:solidFill>
            <a:srgbClr val="FCF1D6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68580" cy="1508760"/>
          </a:xfrm>
          <a:prstGeom prst="rect">
            <a:avLst/>
          </a:prstGeom>
          <a:solidFill>
            <a:srgbClr val="EF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664207"/>
            <a:ext cx="32004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2742"/>
                </a:solidFill>
                <a:latin typeface="Aptos"/>
              </a:defRPr>
            </a:pPr>
            <a:r>
              <a:t>Layout / kits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048256"/>
            <a:ext cx="3200400" cy="94183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Testar posicionamento conjunto ou kits com produtos associados.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840480"/>
            <a:ext cx="4754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840480"/>
            <a:ext cx="68580" cy="1143000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950208"/>
            <a:ext cx="44805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Métricas de validação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334256"/>
            <a:ext cx="4480560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Conversão incremental, margem, ticket médio e taxa de adesão.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840480"/>
            <a:ext cx="4754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840480"/>
            <a:ext cx="68580" cy="114300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3950208"/>
            <a:ext cx="44805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2742"/>
                </a:solidFill>
                <a:latin typeface="Aptos"/>
              </a:defRPr>
            </a:pPr>
            <a:r>
              <a:t>Cuidados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4334256"/>
            <a:ext cx="4480560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Disponibilidade, sazonalidade, causalidade e possível canibalização.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06424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ptos"/>
              </a:defRPr>
            </a:pPr>
            <a:r>
              <a:t>19. Conclusões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005840" cy="64008"/>
          </a:xfrm>
          <a:prstGeom prst="rect">
            <a:avLst/>
          </a:prstGeom>
          <a:solidFill>
            <a:srgbClr val="1F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509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ECDDF"/>
                </a:solidFill>
                <a:latin typeface="Aptos"/>
              </a:defRPr>
            </a:pPr>
            <a:r>
              <a:t>Da segmentação de clientes à descoberta de associações de produtos.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BECDD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240280" cy="1234440"/>
          </a:xfrm>
          <a:prstGeom prst="roundRect">
            <a:avLst/>
          </a:prstGeom>
          <a:solidFill>
            <a:srgbClr val="2A3C58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37360"/>
            <a:ext cx="2011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189 clientes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48840"/>
            <a:ext cx="2011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DCE7F4"/>
                </a:solidFill>
                <a:latin typeface="Aptos"/>
              </a:defRPr>
            </a:pPr>
            <a:r>
              <a:t>Classificados em quatro clusters.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554480"/>
            <a:ext cx="2240280" cy="1234440"/>
          </a:xfrm>
          <a:prstGeom prst="roundRect">
            <a:avLst/>
          </a:prstGeom>
          <a:solidFill>
            <a:srgbClr val="2A3C58"/>
          </a:solidFill>
          <a:ln>
            <a:solidFill>
              <a:srgbClr val="1F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7" y="1737360"/>
            <a:ext cx="2011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930 cestas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148840"/>
            <a:ext cx="2011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DCE7F4"/>
                </a:solidFill>
                <a:latin typeface="Aptos"/>
              </a:defRPr>
            </a:pPr>
            <a:r>
              <a:t>Pedidos reconstruídos no nível correto.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2240280" cy="1234440"/>
          </a:xfrm>
          <a:prstGeom prst="roundRect">
            <a:avLst/>
          </a:prstGeom>
          <a:solidFill>
            <a:srgbClr val="2A3C58"/>
          </a:solidFill>
          <a:ln>
            <a:solidFill>
              <a:srgbClr val="EFA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737360"/>
            <a:ext cx="2011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3.804 regras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148840"/>
            <a:ext cx="2011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DCE7F4"/>
                </a:solidFill>
                <a:latin typeface="Aptos"/>
              </a:defRPr>
            </a:pPr>
            <a:r>
              <a:t>Todas no Cluster 0 com os parâmetros principais.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554480"/>
            <a:ext cx="2240280" cy="1234440"/>
          </a:xfrm>
          <a:prstGeom prst="roundRect">
            <a:avLst/>
          </a:prstGeom>
          <a:solidFill>
            <a:srgbClr val="2A3C58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5167" y="1737360"/>
            <a:ext cx="2011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Persistência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7" y="2148840"/>
            <a:ext cx="2011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DCE7F4"/>
                </a:solidFill>
                <a:latin typeface="Aptos"/>
              </a:defRPr>
            </a:pPr>
            <a:r>
              <a:t>CSV e PostgreSQL para uso analítico.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29000"/>
            <a:ext cx="1051560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Conclusão principal: o K-Means segmentou os clientes e o Apriori revelou associações dentro dos segmentos. As regras destacadas do Cluster 0 apresentam suporte de 16%, confiança de 100% e lift 5,00; nos clusters Northwind, a redução do suporte para 1%–2% permite explorar padrões mais raros.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3327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C0D6EE"/>
                </a:solidFill>
                <a:latin typeface="Aptos"/>
              </a:defRPr>
            </a:pPr>
            <a:r>
              <a:t>Próximos passos: validar estabilidade em novas amostras, testar limiares por segmento e medir o impacto comercial das recomendações.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17920"/>
            <a:ext cx="102412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B4C4D7"/>
                </a:solidFill>
                <a:latin typeface="Aptos"/>
              </a:defRPr>
            </a:pPr>
            <a:r>
              <a:t>Base: Relatório Técnico — Clusterização de Clientes e Regras de Associação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