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rgbClr val="2D69B4"/>
            </a:solidFill>
          </c:spPr>
          <c:cat>
            <c:strRef>
              <c:f>Sheet1!$A$2:$A$5</c:f>
              <c:strCache>
                <c:ptCount val="4"/>
                <c:pt idx="0">
                  <c:v>Cluster 0</c:v>
                </c:pt>
                <c:pt idx="1">
                  <c:v>Cluster 1</c:v>
                </c:pt>
                <c:pt idx="2">
                  <c:v>Cluster 2</c:v>
                </c:pt>
                <c:pt idx="3">
                  <c:v>Cluster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39</c:v>
                </c:pt>
                <c:pt idx="2">
                  <c:v>3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Transações</c:v>
                </c:pt>
              </c:strCache>
            </c:strRef>
          </c:tx>
          <c:spPr>
            <a:solidFill>
              <a:srgbClr val="1F978B"/>
            </a:solidFill>
          </c:spPr>
          <c:cat>
            <c:strRef>
              <c:f>Sheet1!$A$2:$A$5</c:f>
              <c:strCache>
                <c:ptCount val="4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478</c:v>
                </c:pt>
                <c:pt idx="2">
                  <c:v>89</c:v>
                </c:pt>
                <c:pt idx="3">
                  <c:v>263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Número de cestas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1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914400"/>
            <a:ext cx="1371600" cy="137160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2057400"/>
            <a:ext cx="777240" cy="777240"/>
          </a:xfrm>
          <a:prstGeom prst="ellipse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834640"/>
            <a:ext cx="502920" cy="502920"/>
          </a:xfrm>
          <a:prstGeom prst="ellipse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657600"/>
            <a:ext cx="1143000" cy="1143000"/>
          </a:xfrm>
          <a:prstGeom prst="ellipse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79" y="4663440"/>
            <a:ext cx="822960" cy="8229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326880" y="1828800"/>
            <a:ext cx="960120" cy="457200"/>
          </a:xfrm>
          <a:prstGeom prst="line">
            <a:avLst/>
          </a:prstGeom>
          <a:ln w="19050">
            <a:solidFill>
              <a:srgbClr val="A0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458200" y="3383280"/>
            <a:ext cx="411480" cy="1325880"/>
          </a:xfrm>
          <a:prstGeom prst="line">
            <a:avLst/>
          </a:prstGeom>
          <a:ln w="19050">
            <a:solidFill>
              <a:srgbClr val="A0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52760" y="2834640"/>
            <a:ext cx="91440" cy="822960"/>
          </a:xfrm>
          <a:prstGeom prst="line">
            <a:avLst/>
          </a:prstGeom>
          <a:ln w="19050">
            <a:solidFill>
              <a:srgbClr val="A0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1005840"/>
            <a:ext cx="7040880" cy="1463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Clusterização de Clientes</a:t>
            </a:r>
          </a:p>
          <a:p>
            <a:pPr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e Regras de Associação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65836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C0D6EE"/>
                </a:solidFill>
                <a:latin typeface="Aptos"/>
              </a:defRPr>
            </a:pPr>
            <a:r>
              <a:t>K-Means + Apriori no Data Mart de Vendas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612648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Do histórico de vendas à descoberta de padrões de compra por segmento.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166360"/>
            <a:ext cx="2103120" cy="438912"/>
          </a:xfrm>
          <a:prstGeom prst="round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" y="5175504"/>
            <a:ext cx="1993391" cy="420623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PostgreSQL + 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99232" y="5166360"/>
            <a:ext cx="2057400" cy="438912"/>
          </a:xfrm>
          <a:prstGeom prst="round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4096" y="5175504"/>
            <a:ext cx="1947672" cy="420623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189 clientes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5166360"/>
            <a:ext cx="1965960" cy="438912"/>
          </a:xfrm>
          <a:prstGeom prst="round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5175504"/>
            <a:ext cx="1856231" cy="420623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3.804 regras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63640"/>
            <a:ext cx="7315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4C4D7"/>
                </a:solidFill>
                <a:latin typeface="Aptos"/>
              </a:defRPr>
            </a:pPr>
            <a:r>
              <a:t>Resumo do relatório técnico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742"/>
                </a:solidFill>
                <a:latin typeface="Aptos"/>
              </a:defRPr>
            </a:pPr>
            <a:r>
              <a:t>1. Objetivo e visão geral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Duas técnicas encadeadas para descobrir padrões específicos de cada segmento.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965960" cy="123444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73152" cy="123444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645919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Data Warehouse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6312"/>
            <a:ext cx="1645919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Mercearia + Northwind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87168" y="2560320"/>
            <a:ext cx="228600" cy="0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1965960"/>
            <a:ext cx="1965960" cy="123444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965960"/>
            <a:ext cx="73152" cy="123444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103120"/>
            <a:ext cx="1645919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Data Mart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496312"/>
            <a:ext cx="1645919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dm_vendas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73168" y="2560320"/>
            <a:ext cx="228600" cy="0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74920" y="1965960"/>
            <a:ext cx="1965960" cy="123444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965960"/>
            <a:ext cx="73152" cy="123444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103120"/>
            <a:ext cx="1645919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K-Means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496312"/>
            <a:ext cx="1645919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Agrupa clientes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9168" y="2560320"/>
            <a:ext cx="228600" cy="0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60920" y="1965960"/>
            <a:ext cx="1965960" cy="123444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965960"/>
            <a:ext cx="73152" cy="123444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2103120"/>
            <a:ext cx="1645919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Apriori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496312"/>
            <a:ext cx="1645919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Descobre associações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45168" y="2560320"/>
            <a:ext cx="228600" cy="0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46920" y="1965960"/>
            <a:ext cx="1965960" cy="123444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46920" y="1965960"/>
            <a:ext cx="73152" cy="123444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103120"/>
            <a:ext cx="1645919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496312"/>
            <a:ext cx="1645919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Regras por cluster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977639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3977639"/>
            <a:ext cx="73152" cy="141732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114800"/>
            <a:ext cx="48920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Pergunta 1 — Quem compra de forma semelhante?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507992"/>
            <a:ext cx="4892040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O K-Means segmenta clientes usando recência, frequência, gastos e diversidade de compra.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977639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77639"/>
            <a:ext cx="73152" cy="141732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114800"/>
            <a:ext cx="48920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Pergunta 2 — O que costuma ser comprado junto?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07992"/>
            <a:ext cx="4892040" cy="7955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O Apriori analisa as cestas de cada cluster separadamente, buscando associações entre produtos.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Resultado esperado: padrões de compra mais específicos do que uma análise única para todos os clientes.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742"/>
                </a:solidFill>
                <a:latin typeface="Aptos"/>
              </a:defRPr>
            </a:pPr>
            <a:r>
              <a:t>2. Dados e arquitetura analítica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A granularidade correta é essencial para reconstruir cada pedido como uma cesta.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286000" cy="91440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9144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96596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Mercearia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1965960" cy="2926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Vendas de varejo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2286000" cy="91440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71800"/>
            <a:ext cx="73152" cy="9144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196596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Northwind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02152"/>
            <a:ext cx="1965960" cy="2926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Pedidos B2B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2148840"/>
            <a:ext cx="777240" cy="36576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17520" y="2971800"/>
            <a:ext cx="777240" cy="45720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40480" y="214884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2148840"/>
            <a:ext cx="73152" cy="11430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2286000"/>
            <a:ext cx="196596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DW Organizacional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679192"/>
            <a:ext cx="196596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Integra e unifica os dados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72200" y="2724912"/>
            <a:ext cx="73152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49440" y="2148840"/>
            <a:ext cx="2057400" cy="114300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0" y="2148840"/>
            <a:ext cx="73152" cy="11430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286000"/>
            <a:ext cx="173736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dm_vendas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679192"/>
            <a:ext cx="173736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Dimensões + fato de vendas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52560" y="2724912"/>
            <a:ext cx="59436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92640" y="214884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2148840"/>
            <a:ext cx="73152" cy="11430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19" y="2286000"/>
            <a:ext cx="16002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2679192"/>
            <a:ext cx="1600200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K-Means e Apriori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617720"/>
            <a:ext cx="3154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617720"/>
            <a:ext cx="73152" cy="100584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754880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Dimensões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148072"/>
            <a:ext cx="28346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Clientes e produtos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4617720"/>
            <a:ext cx="31546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26280" y="4617720"/>
            <a:ext cx="73152" cy="100584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4754880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Fato de vendas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5148072"/>
            <a:ext cx="28346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Itens, quantidades e valores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617720"/>
            <a:ext cx="3154680" cy="1005840"/>
          </a:xfrm>
          <a:prstGeom prst="roundRect">
            <a:avLst/>
          </a:prstGeom>
          <a:solidFill>
            <a:srgbClr val="FAE5E5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4617720"/>
            <a:ext cx="73152" cy="100584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754880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Ponto crítico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148072"/>
            <a:ext cx="28346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1 linha = 1 item; pedido = várias linhas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989320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2742"/>
                </a:solidFill>
                <a:latin typeface="Aptos"/>
              </a:defRPr>
            </a:pPr>
            <a:r>
              <a:t>O Apriori precisa saber quais produtos pertencem à mesma transação — não apenas à mesma linha da fato.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742"/>
                </a:solidFill>
                <a:latin typeface="Aptos"/>
              </a:defRPr>
            </a:pPr>
            <a:r>
              <a:t>3. Como os clientes foram segmentados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Sete variáveis resumem diferentes aspectos do comportamento de compra.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96012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37360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Recência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30552"/>
            <a:ext cx="283464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Dias desde a última compra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600200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600200"/>
            <a:ext cx="73152" cy="96012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737360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Frequência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130552"/>
            <a:ext cx="283464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Número de transações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600200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600200"/>
            <a:ext cx="73152" cy="96012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Quantidade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130552"/>
            <a:ext cx="283464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Total de itens comprados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34640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834640"/>
            <a:ext cx="73152" cy="96012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2971800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Valor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364992"/>
            <a:ext cx="283464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Gasto acumulado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2834640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2834640"/>
            <a:ext cx="73152" cy="96012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971800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Ticket médio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364992"/>
            <a:ext cx="283464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Gasto médio por transação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834640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0" y="2834640"/>
            <a:ext cx="73152" cy="96012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971800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Produtos distintos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64992"/>
            <a:ext cx="283464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Variedade de itens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4069080"/>
            <a:ext cx="3154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4069080"/>
            <a:ext cx="73152" cy="96012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4206240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Categorias distintas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599432"/>
            <a:ext cx="283464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Variedade de categorias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440680"/>
            <a:ext cx="1828800" cy="502920"/>
          </a:xfrm>
          <a:prstGeom prst="roundRect">
            <a:avLst/>
          </a:prstGeom>
          <a:solidFill>
            <a:srgbClr val="E0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" y="5449824"/>
            <a:ext cx="1719072" cy="4846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2742"/>
                </a:solidFill>
                <a:latin typeface="Aptos"/>
              </a:defRPr>
            </a:pPr>
            <a:r>
              <a:t>Dados originais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834640" y="5687568"/>
            <a:ext cx="914399" cy="0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840480" y="5440680"/>
            <a:ext cx="2194560" cy="502920"/>
          </a:xfrm>
          <a:prstGeom prst="roundRect">
            <a:avLst/>
          </a:prstGeom>
          <a:solidFill>
            <a:srgbClr val="FCF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95344" y="5449824"/>
            <a:ext cx="2084831" cy="4846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2742"/>
                </a:solidFill>
                <a:latin typeface="Aptos"/>
              </a:defRPr>
            </a:pPr>
            <a:r>
              <a:t>StandardScaler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0" y="5687568"/>
            <a:ext cx="914400" cy="0"/>
          </a:xfrm>
          <a:prstGeom prst="line">
            <a:avLst/>
          </a:prstGeom>
          <a:ln w="1905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132320" y="5440680"/>
            <a:ext cx="2286000" cy="502920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87183" y="5449824"/>
            <a:ext cx="2176272" cy="4846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2742"/>
                </a:solidFill>
                <a:latin typeface="Aptos"/>
              </a:defRPr>
            </a:pPr>
            <a:r>
              <a:t>K-Means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5394960"/>
            <a:ext cx="18288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E82"/>
                </a:solidFill>
                <a:latin typeface="Aptos"/>
              </a:defRPr>
            </a:pPr>
            <a:r>
              <a:t>Padronizar evita que escalas maiores dominem as distâncias.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742"/>
                </a:solidFill>
                <a:latin typeface="Aptos"/>
              </a:defRPr>
            </a:pPr>
            <a:r>
              <a:t>4. Resultado da clusterização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Foram classificados 189 clientes em quatro grupos.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600200"/>
          <a:ext cx="5669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20840" y="1645920"/>
            <a:ext cx="4754880" cy="91440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1645920"/>
            <a:ext cx="73152" cy="9144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783080"/>
            <a:ext cx="44348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Cluster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176272"/>
            <a:ext cx="4434840" cy="2926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100 clientes — origem predominante: Mercearia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788920"/>
            <a:ext cx="4754880" cy="91440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2788920"/>
            <a:ext cx="73152" cy="9144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926079"/>
            <a:ext cx="44348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Clusters 1 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319272"/>
            <a:ext cx="4434840" cy="2926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39 e 47 clientes — origem predominante: Northwind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931920"/>
            <a:ext cx="4754880" cy="91440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3931920"/>
            <a:ext cx="73152" cy="9144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069080"/>
            <a:ext cx="44348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Cluster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462272"/>
            <a:ext cx="4434840" cy="2926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3 clientes — grupo pequeno, também Northwind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5257800"/>
            <a:ext cx="43891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Importante: os números identificam grupos; a interpretação de cada perfil deve considerar as variáveis e a origem dos dados.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742"/>
                </a:solidFill>
                <a:latin typeface="Aptos"/>
              </a:defRPr>
            </a:pPr>
            <a:r>
              <a:t>5. De linhas de venda para cestas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O identificador da transação foi reconstruído no nível do pedido.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154680" cy="1828800"/>
          </a:xfrm>
          <a:prstGeom prst="roundRect">
            <a:avLst/>
          </a:prstGeom>
          <a:solidFill>
            <a:srgbClr val="FAE5E5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182880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Antes: linha da fato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21992"/>
            <a:ext cx="2834640" cy="12070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Linha 1 → Arroz</a:t>
            </a:r>
          </a:p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Linha 2 → Feijão</a:t>
            </a:r>
          </a:p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Linha 3 → Café</a:t>
            </a:r>
          </a:p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Cada linha seria uma cesta de 1 produto.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2606040"/>
            <a:ext cx="731520" cy="0"/>
          </a:xfrm>
          <a:prstGeom prst="line">
            <a:avLst/>
          </a:prstGeom>
          <a:ln w="2540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1691640"/>
            <a:ext cx="2926080" cy="182880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1691640"/>
            <a:ext cx="73152" cy="18288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828800"/>
            <a:ext cx="26060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Correção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221992"/>
            <a:ext cx="2606040" cy="12070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Agrupar pelo ID do pedido e pelo sistema de origem.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8120" y="2606040"/>
            <a:ext cx="731520" cy="0"/>
          </a:xfrm>
          <a:prstGeom prst="line">
            <a:avLst/>
          </a:prstGeom>
          <a:ln w="2540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41080" y="1691640"/>
            <a:ext cx="2880360" cy="182880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41080" y="1691640"/>
            <a:ext cx="73152" cy="18288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1828800"/>
            <a:ext cx="25603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Depois: cesta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221992"/>
            <a:ext cx="2560320" cy="12070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Pedido 51 → Arroz + Feijão + Café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62742"/>
                </a:solidFill>
                <a:latin typeface="Aptos"/>
              </a:defRPr>
            </a:pPr>
            <a:r>
              <a:t>930 cestas analisadas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617720"/>
            <a:ext cx="4526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4617720"/>
            <a:ext cx="73152" cy="96012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754880"/>
            <a:ext cx="42062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Mercearia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148072"/>
            <a:ext cx="420624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100 pedidos; média de 10 itens por cesta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617720"/>
            <a:ext cx="4526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4617720"/>
            <a:ext cx="73152" cy="96012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754880"/>
            <a:ext cx="42062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Northwind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148072"/>
            <a:ext cx="420624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830 pedidos de origem no conjunto; cestas menores, em geral 2–3 itens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25312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O prefixo do sistema evita colisões entre pedidos com o mesmo número em bases diferentes.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742"/>
                </a:solidFill>
                <a:latin typeface="Aptos"/>
              </a:defRPr>
            </a:pPr>
            <a:r>
              <a:t>6. Como interpretar as regras do Apriori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Os filtros iniciais do relatório foram suporte ≥ 5%, confiança ≥ 30% e lift ≥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874519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874519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0896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742"/>
                </a:solidFill>
                <a:latin typeface="Aptos"/>
              </a:defRPr>
            </a:pPr>
            <a:r>
              <a:t>Suporte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3108960" cy="12527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Frequência do conjunto nas cestas.</a:t>
            </a:r>
          </a:p>
          <a:p>
            <a:pPr>
              <a:spcAft>
                <a:spcPts val="500"/>
              </a:spcAft>
              <a:defRPr sz="1300" b="0">
                <a:solidFill>
                  <a:srgbClr val="2A34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0,16 = os produtos aparecem juntos em 16% das transações do cluster.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874519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73152" cy="1874519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10896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742"/>
                </a:solidFill>
                <a:latin typeface="Aptos"/>
              </a:defRPr>
            </a:pPr>
            <a:r>
              <a:t>Confiança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21992"/>
            <a:ext cx="3108960" cy="12527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Frequência do consequente quando o antecedente aparece.</a:t>
            </a:r>
          </a:p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1,00 = 100% das cestas com o antecedente também tinham o consequente.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29000" cy="1874519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73152" cy="1874519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828800"/>
            <a:ext cx="310896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742"/>
                </a:solidFill>
                <a:latin typeface="Aptos"/>
              </a:defRPr>
            </a:pPr>
            <a:r>
              <a:t>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221992"/>
            <a:ext cx="3108960" cy="12527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Compara a associação observada com a esperada sob independência.</a:t>
            </a:r>
          </a:p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5,00 = associação observada 5 vezes acima da expectativa.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828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2742"/>
                </a:solidFill>
                <a:latin typeface="Aptos"/>
              </a:defRPr>
            </a:pPr>
            <a:r>
              <a:t>Escala do lift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663440"/>
            <a:ext cx="2468880" cy="594360"/>
          </a:xfrm>
          <a:prstGeom prst="roundRect">
            <a:avLst/>
          </a:prstGeom>
          <a:solidFill>
            <a:srgbClr val="FA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4672583"/>
            <a:ext cx="2359152" cy="5760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BE4B4B"/>
                </a:solidFill>
                <a:latin typeface="Aptos"/>
              </a:defRPr>
            </a:pPr>
            <a:r>
              <a:t>Lift &lt; 1</a:t>
            </a:r>
          </a:p>
          <a:p>
            <a:pPr algn="ctr">
              <a:spcAft>
                <a:spcPts val="500"/>
              </a:spcAft>
              <a:defRPr sz="1200" b="1">
                <a:solidFill>
                  <a:srgbClr val="BE4B4B"/>
                </a:solidFill>
                <a:latin typeface="Aptos"/>
              </a:defRPr>
            </a:pPr>
            <a:r>
              <a:t>Associação negativa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4663440"/>
            <a:ext cx="2468880" cy="594360"/>
          </a:xfrm>
          <a:prstGeom prst="roundRect">
            <a:avLst/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03903" y="4672583"/>
            <a:ext cx="2359152" cy="5760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A3441"/>
                </a:solidFill>
                <a:latin typeface="Aptos"/>
              </a:defRPr>
            </a:pPr>
            <a:r>
              <a:t>Lift = 1</a:t>
            </a:r>
          </a:p>
          <a:p>
            <a:pPr algn="ctr">
              <a:spcAft>
                <a:spcPts val="500"/>
              </a:spcAft>
              <a:defRPr sz="1200" b="1">
                <a:solidFill>
                  <a:srgbClr val="2A3441"/>
                </a:solidFill>
                <a:latin typeface="Aptos"/>
              </a:defRPr>
            </a:pPr>
            <a:r>
              <a:t>Independência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4663440"/>
            <a:ext cx="2468880" cy="594360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4264" y="4672583"/>
            <a:ext cx="2359152" cy="5760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F978B"/>
                </a:solidFill>
                <a:latin typeface="Aptos"/>
              </a:defRPr>
            </a:pPr>
            <a:r>
              <a:t>Lift &gt; 1</a:t>
            </a:r>
          </a:p>
          <a:p>
            <a:pPr algn="ctr">
              <a:spcAft>
                <a:spcPts val="500"/>
              </a:spcAft>
              <a:defRPr sz="1200" b="1">
                <a:solidFill>
                  <a:srgbClr val="1F978B"/>
                </a:solidFill>
                <a:latin typeface="Aptos"/>
              </a:defRPr>
            </a:pPr>
            <a:r>
              <a:t>Associação positiva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572000"/>
            <a:ext cx="20574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Lift não é negativo: o valor é positivo; menor que 1 indica associação negativa.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742"/>
                </a:solidFill>
                <a:latin typeface="Aptos"/>
              </a:defRPr>
            </a:pPr>
            <a:r>
              <a:t>7. Exemplo real de regra encontrada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Uma regra do Cluster 0 ilustra como traduzir as métricas para uma decisão de negócio.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154680" cy="137160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13716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Antecedentes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2834640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Achocolatado 400 g</a:t>
            </a:r>
          </a:p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+ Água Sanitária 1 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2331720"/>
            <a:ext cx="731521" cy="0"/>
          </a:xfrm>
          <a:prstGeom prst="line">
            <a:avLst/>
          </a:prstGeom>
          <a:ln w="2540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00600" y="1645920"/>
            <a:ext cx="2743200" cy="137160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1645920"/>
            <a:ext cx="73152" cy="13716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783080"/>
            <a:ext cx="242316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Consequente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176272"/>
            <a:ext cx="2423160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Água Mineral 1,5 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703320"/>
            <a:ext cx="2788920" cy="1234440"/>
          </a:xfrm>
          <a:prstGeom prst="roundRect">
            <a:avLst/>
          </a:prstGeom>
          <a:solidFill>
            <a:srgbClr val="E0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22191"/>
            <a:ext cx="2606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2D69B4"/>
                </a:solidFill>
                <a:latin typeface="Aptos"/>
              </a:defRPr>
            </a:pPr>
            <a:r>
              <a:t>16%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70832"/>
            <a:ext cx="2606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Suporte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703320"/>
            <a:ext cx="2788920" cy="1234440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822191"/>
            <a:ext cx="2606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1F978B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370832"/>
            <a:ext cx="2606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Confiança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703320"/>
            <a:ext cx="2788920" cy="1234440"/>
          </a:xfrm>
          <a:prstGeom prst="roundRect">
            <a:avLst/>
          </a:prstGeom>
          <a:solidFill>
            <a:srgbClr val="FCF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3822191"/>
            <a:ext cx="26060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EFAD36"/>
                </a:solidFill>
                <a:latin typeface="Aptos"/>
              </a:defRPr>
            </a:pPr>
            <a:r>
              <a:t>5,00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370832"/>
            <a:ext cx="2606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Lift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303520"/>
            <a:ext cx="10287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303520"/>
            <a:ext cx="73152" cy="73152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440680"/>
            <a:ext cx="996696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Leitura prática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833872"/>
            <a:ext cx="9966960" cy="1097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No conjunto analisado, 16% das cestas continham os três itens; quando os dois antecedentes apareciam, a água mineral também aparecia. A associação foi 5 vezes maior que a esperada sob independência.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62742"/>
                </a:solidFill>
                <a:latin typeface="Aptos"/>
              </a:defRPr>
            </a:pPr>
            <a:r>
              <a:t>8. Resultados: onde surgiram regras?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Com os limiares iniciais, as 3.804 regras vieram do Cluster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645920"/>
          <a:ext cx="55778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37960" y="1737360"/>
            <a:ext cx="4846320" cy="100584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60" y="1737360"/>
            <a:ext cx="73152" cy="100584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45262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Cluster 0 — 3.804 regras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267712"/>
            <a:ext cx="4526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100 cestas; cestas maiores e catálogo de 100 produtos, com 40 itens acima do suporte mínimo.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971800"/>
            <a:ext cx="4846320" cy="1005840"/>
          </a:xfrm>
          <a:prstGeom prst="roundRect">
            <a:avLst/>
          </a:prstGeom>
          <a:solidFill>
            <a:srgbClr val="FAE5E5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2971800"/>
            <a:ext cx="73152" cy="100584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108960"/>
            <a:ext cx="45262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Clusters 1, 2 e 3 — zero regras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502152"/>
            <a:ext cx="4526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Nenhum par atingiu os limites de suporte e confiança usados na execução principal.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4206240"/>
            <a:ext cx="4846320" cy="100584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4206240"/>
            <a:ext cx="73152" cy="100584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343400"/>
            <a:ext cx="45262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Por quê?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736592"/>
            <a:ext cx="4526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Cestas Northwind menores e catálogo mais disperso. O relatório registra que testes com suporte de 1%–2% revelaram regras.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698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2742"/>
                </a:solidFill>
                <a:latin typeface="Aptos"/>
              </a:defRPr>
            </a:pPr>
            <a:r>
              <a:t>Ausência de regras com estes parâmetros não prova ausência de padrões: pode indicar limiares restritivos para aquela 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9. Conclusões e aplicações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063240" cy="1508760"/>
          </a:xfrm>
          <a:prstGeom prst="roundRect">
            <a:avLst/>
          </a:prstGeom>
          <a:solidFill>
            <a:srgbClr val="2A3C58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83080"/>
            <a:ext cx="2743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Promoções cruzadas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67712"/>
            <a:ext cx="2697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DCE7F4"/>
                </a:solidFill>
                <a:latin typeface="Aptos"/>
              </a:defRPr>
            </a:pPr>
            <a:r>
              <a:t>Criar ofertas combinando produtos que aparecem associados.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00200"/>
            <a:ext cx="3063240" cy="1508760"/>
          </a:xfrm>
          <a:prstGeom prst="roundRect">
            <a:avLst/>
          </a:prstGeom>
          <a:solidFill>
            <a:srgbClr val="2A3C58"/>
          </a:solidFill>
          <a:ln>
            <a:solidFill>
              <a:srgbClr val="1F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1783080"/>
            <a:ext cx="2743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Organização da loja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267712"/>
            <a:ext cx="2697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DCE7F4"/>
                </a:solidFill>
                <a:latin typeface="Aptos"/>
              </a:defRPr>
            </a:pPr>
            <a:r>
              <a:t>Testar posicionamento conjunto e kits promocionais.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600200"/>
            <a:ext cx="3063240" cy="1508760"/>
          </a:xfrm>
          <a:prstGeom prst="roundRect">
            <a:avLst/>
          </a:prstGeom>
          <a:solidFill>
            <a:srgbClr val="2A3C58"/>
          </a:solidFill>
          <a:ln>
            <a:solidFill>
              <a:srgbClr val="EFA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1783080"/>
            <a:ext cx="2743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Recomendação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267712"/>
            <a:ext cx="2697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DCE7F4"/>
                </a:solidFill>
                <a:latin typeface="Aptos"/>
              </a:defRPr>
            </a:pPr>
            <a:r>
              <a:t>Sugerir itens relacionados para clientes do segmento.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94760"/>
            <a:ext cx="2331720" cy="640080"/>
          </a:xfrm>
          <a:prstGeom prst="round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803904"/>
            <a:ext cx="2221991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189 clientes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3794760"/>
            <a:ext cx="2331720" cy="640080"/>
          </a:xfrm>
          <a:prstGeom prst="round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3803904"/>
            <a:ext cx="2221991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930 cestas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94760"/>
            <a:ext cx="2331720" cy="640080"/>
          </a:xfrm>
          <a:prstGeom prst="round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803904"/>
            <a:ext cx="2221991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3.804 regras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3794760"/>
            <a:ext cx="2148840" cy="640080"/>
          </a:xfrm>
          <a:prstGeom prst="round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3803904"/>
            <a:ext cx="2039112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51560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Síntese: o K-Means criou segmentos e o Apriori identificou associações dentro deles. A solução foi persistida no Data Mart e pode apoiar análises de BI e recomendações. Os resultados devem ser interpretados considerando o tamanho das cestas e os limiares escolhidos.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4C4D7"/>
                </a:solidFill>
                <a:latin typeface="Aptos"/>
              </a:defRPr>
            </a:pPr>
            <a:r>
              <a:t>Baseado no relatório técnico do projeto — Data Warehouse Organizacional / dm_vendas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