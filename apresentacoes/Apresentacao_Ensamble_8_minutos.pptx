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869680" y="822960"/>
            <a:ext cx="2286000" cy="2286000"/>
          </a:xfrm>
          <a:prstGeom prst="roundRect">
            <a:avLst/>
          </a:prstGeom>
          <a:solidFill>
            <a:srgbClr val="26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738360" y="1828800"/>
            <a:ext cx="1645920" cy="1645920"/>
          </a:xfrm>
          <a:prstGeom prst="roundRect">
            <a:avLst/>
          </a:prstGeom>
          <a:solidFill>
            <a:srgbClr val="1C8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58200" y="2834640"/>
            <a:ext cx="1371600" cy="1371600"/>
          </a:xfrm>
          <a:prstGeom prst="roundRect">
            <a:avLst/>
          </a:prstGeom>
          <a:solidFill>
            <a:srgbClr val="E9A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60120"/>
            <a:ext cx="77724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Ensamble</a:t>
            </a:r>
          </a:p>
          <a:p>
            <a:pPr>
              <a:spcBef>
                <a:spcPts val="1000"/>
              </a:spcBef>
              <a:defRPr sz="2400">
                <a:solidFill>
                  <a:srgbClr val="CDE0ED"/>
                </a:solidFill>
                <a:latin typeface="Aptos"/>
              </a:defRPr>
            </a:pPr>
            <a:r>
              <a:t>Clusterização de clientes com regras de associação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51960"/>
            <a:ext cx="7589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Flávio Lourenço da Silva  •  Gustavo Adolpho Souteras Barbosa</a:t>
            </a:r>
          </a:p>
          <a:p>
            <a:pPr>
              <a:defRPr sz="1300">
                <a:solidFill>
                  <a:srgbClr val="CDE0ED"/>
                </a:solidFill>
                <a:latin typeface="Aptos"/>
              </a:defRPr>
            </a:pPr>
            <a:r>
              <a:t>Instituto Federal de Goiás  |  9 de outubro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8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C8B81"/>
                </a:solidFill>
                <a:latin typeface="Aptos"/>
              </a:defRPr>
            </a:pPr>
            <a: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9260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B7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B49"/>
                </a:solidFill>
                <a:latin typeface="Aptos Display"/>
              </a:defRPr>
            </a:pPr>
            <a:r>
              <a:t>Como transformar dados em conhecimento?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5331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6B7C"/>
                </a:solidFill>
                <a:latin typeface="Aptos"/>
              </a:defRPr>
            </a:pPr>
            <a:r>
              <a:t>A motivação do projeto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42B49"/>
                </a:solidFill>
                <a:latin typeface="Aptos"/>
              </a:defRPr>
            </a:pPr>
            <a:r>
              <a:t>O Data Warehouse organiza e integra informações do negócio.</a:t>
            </a:r>
          </a:p>
          <a:p>
            <a:pPr>
              <a:spcAft>
                <a:spcPts val="1400"/>
              </a:spcAft>
              <a:defRPr sz="2100">
                <a:solidFill>
                  <a:srgbClr val="142B49"/>
                </a:solidFill>
                <a:latin typeface="Aptos"/>
              </a:defRPr>
            </a:pPr>
            <a:r>
              <a:t>A clusterização identifica grupos de clientes com comportamentos semelhantes.</a:t>
            </a:r>
          </a:p>
          <a:p>
            <a:pPr>
              <a:spcAft>
                <a:spcPts val="1400"/>
              </a:spcAft>
              <a:defRPr sz="2100">
                <a:solidFill>
                  <a:srgbClr val="142B49"/>
                </a:solidFill>
                <a:latin typeface="Aptos"/>
              </a:defRPr>
            </a:pPr>
            <a:r>
              <a:t>As regras de associação revelam produtos que tendem a aparecer na mesma compra.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148840"/>
            <a:ext cx="3154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2148840"/>
            <a:ext cx="73152" cy="1234440"/>
          </a:xfrm>
          <a:prstGeom prst="rect">
            <a:avLst/>
          </a:prstGeom>
          <a:solidFill>
            <a:srgbClr val="1C8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9912" y="2286000"/>
            <a:ext cx="2788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B49"/>
                </a:solidFill>
                <a:latin typeface="Aptos"/>
              </a:defRPr>
            </a:pPr>
            <a:r>
              <a:t>Segmentar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2" y="2752344"/>
            <a:ext cx="278892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B6B7C"/>
                </a:solidFill>
                <a:latin typeface="Aptos"/>
              </a:defRPr>
            </a:pPr>
            <a:r>
              <a:t>Quem apresenta comportamentos parecidos?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154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234440"/>
          </a:xfrm>
          <a:prstGeom prst="rect">
            <a:avLst/>
          </a:prstGeom>
          <a:solidFill>
            <a:srgbClr val="E9A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2" y="3794760"/>
            <a:ext cx="2788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B49"/>
                </a:solidFill>
                <a:latin typeface="Aptos"/>
              </a:defRPr>
            </a:pPr>
            <a:r>
              <a:t>Associar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4261104"/>
            <a:ext cx="278892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B6B7C"/>
                </a:solidFill>
                <a:latin typeface="Aptos"/>
              </a:defRPr>
            </a:pPr>
            <a:r>
              <a:t>Quais produtos aparecem juntos?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B7C"/>
                </a:solidFill>
                <a:latin typeface="Aptos"/>
              </a:defRPr>
            </a:pPr>
            <a:r>
              <a:t>Ensamble • Clusterização de clientes com regras de associação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8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C8B81"/>
                </a:solidFill>
                <a:latin typeface="Aptos"/>
              </a:defRPr>
            </a:pPr>
            <a:r>
              <a:t>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9260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B7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B49"/>
                </a:solidFill>
                <a:latin typeface="Aptos Display"/>
              </a:defRPr>
            </a:pPr>
            <a:r>
              <a:t>Fluxo geral da solução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5331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6B7C"/>
                </a:solidFill>
                <a:latin typeface="Aptos"/>
              </a:defRPr>
            </a:pPr>
            <a:r>
              <a:t>Do Data Warehouse às regras específicas de cada segmento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3337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148840"/>
            <a:ext cx="73152" cy="1097280"/>
          </a:xfrm>
          <a:prstGeom prst="rect">
            <a:avLst/>
          </a:prstGeom>
          <a:solidFill>
            <a:srgbClr val="1C8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286000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B49"/>
                </a:solidFill>
                <a:latin typeface="Aptos"/>
              </a:defRPr>
            </a:pPr>
            <a:r>
              <a:t>1. Data Warehouse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752344"/>
            <a:ext cx="29718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B6B7C"/>
                </a:solidFill>
                <a:latin typeface="Aptos"/>
              </a:defRPr>
            </a:pPr>
            <a:r>
              <a:t>Fonte integrada</a:t>
            </a:r>
          </a:p>
        </p:txBody>
      </p:sp>
      <p:sp>
        <p:nvSpPr>
          <p:cNvPr id="12" name="Chevron 11"/>
          <p:cNvSpPr/>
          <p:nvPr/>
        </p:nvSpPr>
        <p:spPr>
          <a:xfrm>
            <a:off x="4087368" y="2514600"/>
            <a:ext cx="320040" cy="320040"/>
          </a:xfrm>
          <a:prstGeom prst="chevron">
            <a:avLst/>
          </a:prstGeom>
          <a:solidFill>
            <a:srgbClr val="E9A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2148840"/>
            <a:ext cx="3337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2148840"/>
            <a:ext cx="73152" cy="1097280"/>
          </a:xfrm>
          <a:prstGeom prst="rect">
            <a:avLst/>
          </a:prstGeom>
          <a:solidFill>
            <a:srgbClr val="1C8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2286000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B49"/>
                </a:solidFill>
                <a:latin typeface="Aptos"/>
              </a:defRPr>
            </a:pPr>
            <a:r>
              <a:t>2. Data Mart de Vendas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2752344"/>
            <a:ext cx="29718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B6B7C"/>
                </a:solidFill>
                <a:latin typeface="Aptos"/>
              </a:defRPr>
            </a:pPr>
            <a:r>
              <a:t>Dados de clientes e compras</a:t>
            </a:r>
          </a:p>
        </p:txBody>
      </p:sp>
      <p:sp>
        <p:nvSpPr>
          <p:cNvPr id="17" name="Chevron 16"/>
          <p:cNvSpPr/>
          <p:nvPr/>
        </p:nvSpPr>
        <p:spPr>
          <a:xfrm>
            <a:off x="7927848" y="2514600"/>
            <a:ext cx="320040" cy="320040"/>
          </a:xfrm>
          <a:prstGeom prst="chevron">
            <a:avLst/>
          </a:prstGeom>
          <a:solidFill>
            <a:srgbClr val="E9A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66760" y="2148840"/>
            <a:ext cx="3337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66760" y="2148840"/>
            <a:ext cx="73152" cy="1097280"/>
          </a:xfrm>
          <a:prstGeom prst="rect">
            <a:avLst/>
          </a:prstGeom>
          <a:solidFill>
            <a:srgbClr val="1C8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77072" y="2286000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B49"/>
                </a:solidFill>
                <a:latin typeface="Aptos"/>
              </a:defRPr>
            </a:pPr>
            <a:r>
              <a:t>3. Características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2752344"/>
            <a:ext cx="29718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B6B7C"/>
                </a:solidFill>
                <a:latin typeface="Aptos"/>
              </a:defRPr>
            </a:pPr>
            <a:r>
              <a:t>Resumo do comportamento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03320"/>
            <a:ext cx="3337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703320"/>
            <a:ext cx="73152" cy="1097280"/>
          </a:xfrm>
          <a:prstGeom prst="rect">
            <a:avLst/>
          </a:prstGeom>
          <a:solidFill>
            <a:srgbClr val="26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840480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B49"/>
                </a:solidFill>
                <a:latin typeface="Aptos"/>
              </a:defRPr>
            </a:pPr>
            <a:r>
              <a:t>4. K-Means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306824"/>
            <a:ext cx="29718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B6B7C"/>
                </a:solidFill>
                <a:latin typeface="Aptos"/>
              </a:defRPr>
            </a:pPr>
            <a:r>
              <a:t>Formação dos grupos</a:t>
            </a:r>
          </a:p>
        </p:txBody>
      </p:sp>
      <p:sp>
        <p:nvSpPr>
          <p:cNvPr id="26" name="Chevron 25"/>
          <p:cNvSpPr/>
          <p:nvPr/>
        </p:nvSpPr>
        <p:spPr>
          <a:xfrm>
            <a:off x="4087368" y="4069080"/>
            <a:ext cx="320040" cy="320040"/>
          </a:xfrm>
          <a:prstGeom prst="chevron">
            <a:avLst/>
          </a:prstGeom>
          <a:solidFill>
            <a:srgbClr val="E9A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26280" y="3703320"/>
            <a:ext cx="3337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26280" y="3703320"/>
            <a:ext cx="73152" cy="1097280"/>
          </a:xfrm>
          <a:prstGeom prst="rect">
            <a:avLst/>
          </a:prstGeom>
          <a:solidFill>
            <a:srgbClr val="26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36592" y="3840480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B49"/>
                </a:solidFill>
                <a:latin typeface="Aptos"/>
              </a:defRPr>
            </a:pPr>
            <a:r>
              <a:t>5. Compras por grupo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36592" y="4306824"/>
            <a:ext cx="29718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B6B7C"/>
                </a:solidFill>
                <a:latin typeface="Aptos"/>
              </a:defRPr>
            </a:pPr>
            <a:r>
              <a:t>Cestas de cada segmento</a:t>
            </a:r>
          </a:p>
        </p:txBody>
      </p:sp>
      <p:sp>
        <p:nvSpPr>
          <p:cNvPr id="31" name="Chevron 30"/>
          <p:cNvSpPr/>
          <p:nvPr/>
        </p:nvSpPr>
        <p:spPr>
          <a:xfrm>
            <a:off x="7927848" y="4069080"/>
            <a:ext cx="320040" cy="320040"/>
          </a:xfrm>
          <a:prstGeom prst="chevron">
            <a:avLst/>
          </a:prstGeom>
          <a:solidFill>
            <a:srgbClr val="E9A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66760" y="3703320"/>
            <a:ext cx="33375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66760" y="3703320"/>
            <a:ext cx="73152" cy="1097280"/>
          </a:xfrm>
          <a:prstGeom prst="rect">
            <a:avLst/>
          </a:prstGeom>
          <a:solidFill>
            <a:srgbClr val="26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77072" y="3840480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B49"/>
                </a:solidFill>
                <a:latin typeface="Aptos"/>
              </a:defRPr>
            </a:pPr>
            <a:r>
              <a:t>6. Apriori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77072" y="4306824"/>
            <a:ext cx="29718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B6B7C"/>
                </a:solidFill>
                <a:latin typeface="Aptos"/>
              </a:defRPr>
            </a:pPr>
            <a:r>
              <a:t>Descoberta de regras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88920" y="5440680"/>
            <a:ext cx="6583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88920" y="5440680"/>
            <a:ext cx="73152" cy="658368"/>
          </a:xfrm>
          <a:prstGeom prst="rect">
            <a:avLst/>
          </a:prstGeom>
          <a:solidFill>
            <a:srgbClr val="E9A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99232" y="5577840"/>
            <a:ext cx="6217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B49"/>
                </a:solidFill>
                <a:latin typeface="Aptos"/>
              </a:defRPr>
            </a:pPr>
            <a:r>
              <a:t>Resultado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99232" y="6044184"/>
            <a:ext cx="6217920" cy="-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B6B7C"/>
                </a:solidFill>
                <a:latin typeface="Aptos"/>
              </a:defRPr>
            </a:pPr>
            <a:r>
              <a:t>Regras de associação consolidadas em CSV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B7C"/>
                </a:solidFill>
                <a:latin typeface="Aptos"/>
              </a:defRPr>
            </a:pPr>
            <a:r>
              <a:t>Ensamble • Clusterização de clientes com regras de associação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8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C8B81"/>
                </a:solidFill>
                <a:latin typeface="Aptos"/>
              </a:defRPr>
            </a:pPr>
            <a:r>
              <a:t>PREPARAÇÃO E CLUSTERIZAÇÃO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9260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B7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B49"/>
                </a:solidFill>
                <a:latin typeface="Aptos Display"/>
              </a:defRPr>
            </a:pPr>
            <a:r>
              <a:t>Quais características descrevem cada cliente?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5331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6B7C"/>
                </a:solidFill>
                <a:latin typeface="Aptos"/>
              </a:defRPr>
            </a:pPr>
            <a:r>
              <a:t>Variáveis consolidadas na visão vw_cliente_clusterizacao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6492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42B49"/>
                </a:solidFill>
                <a:latin typeface="Aptos"/>
              </a:defRPr>
            </a:pPr>
            <a:r>
              <a:t>Recência e frequência de compras</a:t>
            </a:r>
          </a:p>
          <a:p>
            <a:pPr>
              <a:spcAft>
                <a:spcPts val="1400"/>
              </a:spcAft>
              <a:defRPr sz="2000">
                <a:solidFill>
                  <a:srgbClr val="142B49"/>
                </a:solidFill>
                <a:latin typeface="Aptos"/>
              </a:defRPr>
            </a:pPr>
            <a:r>
              <a:t>Quantidade de itens e valor total comprado</a:t>
            </a:r>
          </a:p>
          <a:p>
            <a:pPr>
              <a:spcAft>
                <a:spcPts val="1400"/>
              </a:spcAft>
              <a:defRPr sz="2000">
                <a:solidFill>
                  <a:srgbClr val="142B49"/>
                </a:solidFill>
                <a:latin typeface="Aptos"/>
              </a:defRPr>
            </a:pPr>
            <a:r>
              <a:t>Ticket médio por transação</a:t>
            </a:r>
          </a:p>
          <a:p>
            <a:pPr>
              <a:spcAft>
                <a:spcPts val="1400"/>
              </a:spcAft>
              <a:defRPr sz="2000">
                <a:solidFill>
                  <a:srgbClr val="142B49"/>
                </a:solidFill>
                <a:latin typeface="Aptos"/>
              </a:defRPr>
            </a:pPr>
            <a:r>
              <a:t>Quantidade de produtos e categorias distintos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057400"/>
            <a:ext cx="3566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2057400"/>
            <a:ext cx="73152" cy="1143000"/>
          </a:xfrm>
          <a:prstGeom prst="rect">
            <a:avLst/>
          </a:prstGeom>
          <a:solidFill>
            <a:srgbClr val="1C8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82712" y="2194560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B49"/>
                </a:solidFill>
                <a:latin typeface="Aptos"/>
              </a:defRPr>
            </a:pPr>
            <a:r>
              <a:t>Padronização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2712" y="2660904"/>
            <a:ext cx="3200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B6B7C"/>
                </a:solidFill>
                <a:latin typeface="Aptos"/>
              </a:defRPr>
            </a:pPr>
            <a:r>
              <a:t>StandardScaler coloca as variáveis em escalas comparáveis.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3474720"/>
            <a:ext cx="3566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3474720"/>
            <a:ext cx="73152" cy="1143000"/>
          </a:xfrm>
          <a:prstGeom prst="rect">
            <a:avLst/>
          </a:prstGeom>
          <a:solidFill>
            <a:srgbClr val="26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82712" y="3611879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B49"/>
                </a:solidFill>
                <a:latin typeface="Aptos"/>
              </a:defRPr>
            </a:pPr>
            <a:r>
              <a:t>K-Means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2712" y="4078224"/>
            <a:ext cx="3200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B6B7C"/>
                </a:solidFill>
                <a:latin typeface="Aptos"/>
              </a:defRPr>
            </a:pPr>
            <a:r>
              <a:t>Agrupa clientes segundo a proximidade das características.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4892040"/>
            <a:ext cx="3566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0" y="4892040"/>
            <a:ext cx="73152" cy="1143000"/>
          </a:xfrm>
          <a:prstGeom prst="rect">
            <a:avLst/>
          </a:prstGeom>
          <a:solidFill>
            <a:srgbClr val="E9A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82712" y="5029200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B49"/>
                </a:solidFill>
                <a:latin typeface="Aptos"/>
              </a:defRPr>
            </a:pPr>
            <a:r>
              <a:t>Escolha de 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2712" y="5495544"/>
            <a:ext cx="3200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B6B7C"/>
                </a:solidFill>
                <a:latin typeface="Aptos"/>
              </a:defRPr>
            </a:pPr>
            <a:r>
              <a:t>Testes de K entre 2 e 7 com Silhouette Score.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B7C"/>
                </a:solidFill>
                <a:latin typeface="Aptos"/>
              </a:defRPr>
            </a:pPr>
            <a:r>
              <a:t>Ensamble • Clusterização de clientes com regras de associação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8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C8B81"/>
                </a:solidFill>
                <a:latin typeface="Aptos"/>
              </a:defRPr>
            </a:pPr>
            <a:r>
              <a:t>GRUPOS DE CLIENTES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9260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B7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B49"/>
                </a:solidFill>
                <a:latin typeface="Aptos Display"/>
              </a:defRPr>
            </a:pPr>
            <a:r>
              <a:t>Da segmentação ao perfil de compra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5331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6B7C"/>
                </a:solidFill>
                <a:latin typeface="Aptos"/>
              </a:defRPr>
            </a:pPr>
            <a:r>
              <a:t>Os grupos calculados são armazenados no PostgreSQL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57400"/>
            <a:ext cx="466344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2743200"/>
            <a:ext cx="164592" cy="164592"/>
          </a:xfrm>
          <a:prstGeom prst="ellipse">
            <a:avLst/>
          </a:prstGeom>
          <a:solidFill>
            <a:srgbClr val="26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37360" y="3063240"/>
            <a:ext cx="164592" cy="164592"/>
          </a:xfrm>
          <a:prstGeom prst="ellipse">
            <a:avLst/>
          </a:prstGeom>
          <a:solidFill>
            <a:srgbClr val="26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48840" y="2651760"/>
            <a:ext cx="164592" cy="164592"/>
          </a:xfrm>
          <a:prstGeom prst="ellipse">
            <a:avLst/>
          </a:prstGeom>
          <a:solidFill>
            <a:srgbClr val="26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828800" y="3474720"/>
            <a:ext cx="164592" cy="164592"/>
          </a:xfrm>
          <a:prstGeom prst="ellipse">
            <a:avLst/>
          </a:prstGeom>
          <a:solidFill>
            <a:srgbClr val="26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74720" y="3840480"/>
            <a:ext cx="164592" cy="164592"/>
          </a:xfrm>
          <a:prstGeom prst="ellipse">
            <a:avLst/>
          </a:prstGeom>
          <a:solidFill>
            <a:srgbClr val="1C8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886200" y="3566160"/>
            <a:ext cx="164592" cy="164592"/>
          </a:xfrm>
          <a:prstGeom prst="ellipse">
            <a:avLst/>
          </a:prstGeom>
          <a:solidFill>
            <a:srgbClr val="1C8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06240" y="3977639"/>
            <a:ext cx="164592" cy="164592"/>
          </a:xfrm>
          <a:prstGeom prst="ellipse">
            <a:avLst/>
          </a:prstGeom>
          <a:solidFill>
            <a:srgbClr val="1C8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57600" y="4297680"/>
            <a:ext cx="164592" cy="164592"/>
          </a:xfrm>
          <a:prstGeom prst="ellipse">
            <a:avLst/>
          </a:prstGeom>
          <a:solidFill>
            <a:srgbClr val="1C8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743200" y="2560320"/>
            <a:ext cx="164592" cy="164592"/>
          </a:xfrm>
          <a:prstGeom prst="ellipse">
            <a:avLst/>
          </a:prstGeom>
          <a:solidFill>
            <a:srgbClr val="E9A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154680" y="2834640"/>
            <a:ext cx="164592" cy="164592"/>
          </a:xfrm>
          <a:prstGeom prst="ellipse">
            <a:avLst/>
          </a:prstGeom>
          <a:solidFill>
            <a:srgbClr val="E9A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880360" y="3246120"/>
            <a:ext cx="164592" cy="164592"/>
          </a:xfrm>
          <a:prstGeom prst="ellipse">
            <a:avLst/>
          </a:prstGeom>
          <a:solidFill>
            <a:srgbClr val="E9A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9834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B6B7C"/>
                </a:solidFill>
                <a:latin typeface="Aptos"/>
              </a:defRPr>
            </a:pPr>
            <a:r>
              <a:t>Ilustração conceitual — não representa resultados reais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2148840"/>
            <a:ext cx="5394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42B49"/>
                </a:solidFill>
                <a:latin typeface="Aptos"/>
              </a:defRPr>
            </a:pPr>
            <a:r>
              <a:t>O Silhouette Score compara a coesão interna e a separação entre grupos.</a:t>
            </a:r>
          </a:p>
          <a:p>
            <a:pPr>
              <a:spcAft>
                <a:spcPts val="1400"/>
              </a:spcAft>
              <a:defRPr sz="1800">
                <a:solidFill>
                  <a:srgbClr val="142B49"/>
                </a:solidFill>
                <a:latin typeface="Aptos"/>
              </a:defRPr>
            </a:pPr>
            <a:r>
              <a:t>Cada cliente fica associado a um grupo na tabela dm_vendas.cliente_cluster.</a:t>
            </a:r>
          </a:p>
          <a:p>
            <a:pPr>
              <a:spcAft>
                <a:spcPts val="1400"/>
              </a:spcAft>
              <a:defRPr sz="1800">
                <a:solidFill>
                  <a:srgbClr val="142B49"/>
                </a:solidFill>
                <a:latin typeface="Aptos"/>
              </a:defRPr>
            </a:pPr>
            <a:r>
              <a:t>A etapa seguinte analisa as transações dos clientes de cada grupo.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B7C"/>
                </a:solidFill>
                <a:latin typeface="Aptos"/>
              </a:defRPr>
            </a:pPr>
            <a:r>
              <a:t>Ensamble • Clusterização de clientes com regras de associação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8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C8B81"/>
                </a:solidFill>
                <a:latin typeface="Aptos"/>
              </a:defRPr>
            </a:pPr>
            <a:r>
              <a:t>REGRAS DE ASSOCIAÇÃO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9260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B7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B49"/>
                </a:solidFill>
                <a:latin typeface="Aptos Display"/>
              </a:defRPr>
            </a:pPr>
            <a:r>
              <a:t>O que os clientes de cada grupo compram juntos?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5331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6B7C"/>
                </a:solidFill>
                <a:latin typeface="Aptos"/>
              </a:defRPr>
            </a:pPr>
            <a:r>
              <a:t>Apriori aplicado às cestas de cada cluster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57400"/>
            <a:ext cx="32461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73152" cy="1463040"/>
          </a:xfrm>
          <a:prstGeom prst="rect">
            <a:avLst/>
          </a:prstGeom>
          <a:solidFill>
            <a:srgbClr val="1C8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194560"/>
            <a:ext cx="2880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B49"/>
                </a:solidFill>
                <a:latin typeface="Aptos"/>
              </a:defRPr>
            </a:pPr>
            <a:r>
              <a:t>1. Reconstruir cestas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660904"/>
            <a:ext cx="2880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B6B7C"/>
                </a:solidFill>
                <a:latin typeface="Aptos"/>
              </a:defRPr>
            </a:pPr>
            <a:r>
              <a:t>Agrupar produtos por transação usando id_transacao.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057400"/>
            <a:ext cx="32461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2057400"/>
            <a:ext cx="73152" cy="1463040"/>
          </a:xfrm>
          <a:prstGeom prst="rect">
            <a:avLst/>
          </a:prstGeom>
          <a:solidFill>
            <a:srgbClr val="26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2194560"/>
            <a:ext cx="2880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B49"/>
                </a:solidFill>
                <a:latin typeface="Aptos"/>
              </a:defRPr>
            </a:pPr>
            <a:r>
              <a:t>2. Codificar itens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2660904"/>
            <a:ext cx="2880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B6B7C"/>
                </a:solidFill>
                <a:latin typeface="Aptos"/>
              </a:defRPr>
            </a:pPr>
            <a:r>
              <a:t>TransactionEncoder converte cestas em matriz binária.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2057400"/>
            <a:ext cx="32461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2057400"/>
            <a:ext cx="73152" cy="1463040"/>
          </a:xfrm>
          <a:prstGeom prst="rect">
            <a:avLst/>
          </a:prstGeom>
          <a:solidFill>
            <a:srgbClr val="E9A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2194560"/>
            <a:ext cx="2880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B49"/>
                </a:solidFill>
                <a:latin typeface="Aptos"/>
              </a:defRPr>
            </a:pPr>
            <a:r>
              <a:t>3. Gerar regras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660904"/>
            <a:ext cx="2880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B6B7C"/>
                </a:solidFill>
                <a:latin typeface="Aptos"/>
              </a:defRPr>
            </a:pPr>
            <a:r>
              <a:t>Apriori encontra conjuntos frequentes e regras.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20240" y="4206240"/>
            <a:ext cx="8321040" cy="1097280"/>
          </a:xfrm>
          <a:prstGeom prst="roundRect">
            <a:avLst/>
          </a:prstGeom>
          <a:solidFill>
            <a:srgbClr val="14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48840" y="4425696"/>
            <a:ext cx="7863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{Pão}  →  {Leite}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53212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5B6B7C"/>
                </a:solidFill>
                <a:latin typeface="Aptos"/>
              </a:defRPr>
            </a:pPr>
            <a:r>
              <a:t>Exemplo ilustrativo; não é um resultado do projeto.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B7C"/>
                </a:solidFill>
                <a:latin typeface="Aptos"/>
              </a:defRPr>
            </a:pPr>
            <a:r>
              <a:t>Ensamble • Clusterização de clientes com regras de associação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8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C8B81"/>
                </a:solidFill>
                <a:latin typeface="Aptos"/>
              </a:defRPr>
            </a:pPr>
            <a:r>
              <a:t>MÉTRICAS E SAÍDA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9260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B7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B49"/>
                </a:solidFill>
                <a:latin typeface="Aptos Display"/>
              </a:defRPr>
            </a:pPr>
            <a:r>
              <a:t>Como filtrar e interpretar as regras?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5331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6B7C"/>
                </a:solidFill>
                <a:latin typeface="Aptos"/>
              </a:defRPr>
            </a:pPr>
            <a:r>
              <a:t>Parâmetros configurados no procedimento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574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73152" cy="1508760"/>
          </a:xfrm>
          <a:prstGeom prst="rect">
            <a:avLst/>
          </a:prstGeom>
          <a:solidFill>
            <a:srgbClr val="1C8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194560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B49"/>
                </a:solidFill>
                <a:latin typeface="Aptos"/>
              </a:defRPr>
            </a:pPr>
            <a:r>
              <a:t>Suporte ≥ 0,05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660904"/>
            <a:ext cx="297180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B6B7C"/>
                </a:solidFill>
                <a:latin typeface="Aptos"/>
              </a:defRPr>
            </a:pPr>
            <a:r>
              <a:t>O conjunto aparece em pelo menos 5% das transações do grupo.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0574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2057400"/>
            <a:ext cx="73152" cy="1508760"/>
          </a:xfrm>
          <a:prstGeom prst="rect">
            <a:avLst/>
          </a:prstGeom>
          <a:solidFill>
            <a:srgbClr val="26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2194560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B49"/>
                </a:solidFill>
                <a:latin typeface="Aptos"/>
              </a:defRPr>
            </a:pPr>
            <a:r>
              <a:t>Confiança ≥ 0,30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660904"/>
            <a:ext cx="297180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B6B7C"/>
                </a:solidFill>
                <a:latin typeface="Aptos"/>
              </a:defRPr>
            </a:pPr>
            <a:r>
              <a:t>Confiança mínima de 30% para a regra.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0574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2057400"/>
            <a:ext cx="73152" cy="1508760"/>
          </a:xfrm>
          <a:prstGeom prst="rect">
            <a:avLst/>
          </a:prstGeom>
          <a:solidFill>
            <a:srgbClr val="E9A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2194560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B49"/>
                </a:solidFill>
                <a:latin typeface="Aptos"/>
              </a:defRPr>
            </a:pPr>
            <a:r>
              <a:t>Lift ≥ 1,00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660904"/>
            <a:ext cx="297180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B6B7C"/>
                </a:solidFill>
                <a:latin typeface="Aptos"/>
              </a:defRPr>
            </a:pPr>
            <a:r>
              <a:t>Filtra regras com associação não inferior à independência.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02336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42B49"/>
                </a:solidFill>
                <a:latin typeface="Aptos"/>
              </a:defRPr>
            </a:pPr>
            <a:r>
              <a:t>As regras são ordenadas por Lift, Confiança e Suporte.</a:t>
            </a:r>
          </a:p>
          <a:p>
            <a:pPr>
              <a:spcAft>
                <a:spcPts val="1400"/>
              </a:spcAft>
              <a:defRPr sz="1900">
                <a:solidFill>
                  <a:srgbClr val="142B49"/>
                </a:solidFill>
                <a:latin typeface="Aptos"/>
              </a:defRPr>
            </a:pPr>
            <a:r>
              <a:t>O CSV reúne grupo, quantidade de clientes e transações, antecedentes, consequentes e métricas.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B7C"/>
                </a:solidFill>
                <a:latin typeface="Aptos"/>
              </a:defRPr>
            </a:pPr>
            <a:r>
              <a:t>Ensamble • Clusterização de clientes com regras de associação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8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C8B81"/>
                </a:solidFill>
                <a:latin typeface="Aptos"/>
              </a:defRPr>
            </a:pPr>
            <a:r>
              <a:t>CONCLUSÃO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9260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DE0E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Dados organizados, conhecimento acionável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5331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DE0ED"/>
                </a:solidFill>
                <a:latin typeface="Aptos"/>
              </a:defRPr>
            </a:pPr>
            <a:r>
              <a:t>A contribuição central do projeto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7589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Clusterização e regras de associação cumprem papéis complementares.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A combinação ajuda a explorar padrões específicos de cada segmento.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As descobertas podem apoiar marketing, recomendação de produtos e vendas cruzadas.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2423160"/>
            <a:ext cx="2560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32520" y="2423160"/>
            <a:ext cx="73152" cy="1828800"/>
          </a:xfrm>
          <a:prstGeom prst="rect">
            <a:avLst/>
          </a:prstGeom>
          <a:solidFill>
            <a:srgbClr val="1C8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42832" y="2560320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B49"/>
                </a:solidFill>
                <a:latin typeface="Aptos"/>
              </a:defRPr>
            </a:pPr>
            <a:r>
              <a:t>Mensagem final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42832" y="3026664"/>
            <a:ext cx="21945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B6B7C"/>
                </a:solidFill>
                <a:latin typeface="Aptos"/>
              </a:defRPr>
            </a:pPr>
            <a:r>
              <a:t>Transformar dados armazenados em informação para apoiar decisões.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71500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9AE41"/>
                </a:solidFill>
                <a:latin typeface="Aptos"/>
              </a:defRPr>
            </a:pPr>
            <a:r>
              <a:t>Obrigado(a)!  •  Perguntas?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