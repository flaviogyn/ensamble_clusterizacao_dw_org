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9D52C-AB4F-4B3C-93A7-08C4B9EFB3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1B0BE-3CDF-4FEF-A831-C2178A0631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16AB2-BB64-4201-9ECF-9FDE6F7BD2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BE2267-EDD7-44F7-ADAC-8238112FFC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D26AD-26FC-4611-914C-EEBCDB64CD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09D54-A368-47CC-A5B7-C037BFD888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FD054F-1057-4EBD-B9AD-ACAA1E8ED8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3CDC11-9E31-4E4E-9900-647195922F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003C2-D377-474E-981B-3E9FB6445D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75981C-A7AC-4E82-8820-D031788D0D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CE1A3F-7F2E-476A-8B88-AC23BB31AF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D394F-698D-4F94-B5CE-086014DC43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16DB27-2CF1-4688-A877-A525D338A84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Oval 3"/>
          <p:cNvSpPr/>
          <p:nvPr/>
        </p:nvSpPr>
        <p:spPr>
          <a:xfrm>
            <a:off x="8280000" y="540000"/>
            <a:ext cx="3240000" cy="3060000"/>
          </a:xfrm>
          <a:prstGeom prst="ellipse">
            <a:avLst/>
          </a:prstGeom>
          <a:solidFill>
            <a:srgbClr val="1e1b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Oval 4"/>
          <p:cNvSpPr/>
          <p:nvPr/>
        </p:nvSpPr>
        <p:spPr>
          <a:xfrm>
            <a:off x="8222760" y="2160000"/>
            <a:ext cx="3657240" cy="3657240"/>
          </a:xfrm>
          <a:prstGeom prst="ellipse">
            <a:avLst/>
          </a:prstGeom>
          <a:solidFill>
            <a:srgbClr val="0b3b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5"/>
          <p:cNvSpPr/>
          <p:nvPr/>
        </p:nvSpPr>
        <p:spPr>
          <a:xfrm>
            <a:off x="1005840" y="1463040"/>
            <a:ext cx="8229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MINERAÇÃO DE DADOS · DATA WAREHOUSE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1005840" y="2011680"/>
            <a:ext cx="9143640" cy="16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4800" spc="-1" strike="noStrike">
                <a:solidFill>
                  <a:srgbClr val="ffffff"/>
                </a:solidFill>
                <a:latin typeface="Segoe UI"/>
              </a:rPr>
              <a:t>Clusterização de Clientes</a:t>
            </a:r>
            <a:endParaRPr b="0" lang="pt-BR" sz="4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4800" spc="-1" strike="noStrike">
                <a:solidFill>
                  <a:srgbClr val="ffffff"/>
                </a:solidFill>
                <a:latin typeface="Segoe UI"/>
              </a:rPr>
              <a:t>&amp; Regras de Associação</a:t>
            </a:r>
            <a:endParaRPr b="0" lang="pt-BR" sz="4800" spc="-1" strike="noStrike">
              <a:latin typeface="Arial"/>
            </a:endParaRPr>
          </a:p>
        </p:txBody>
      </p:sp>
      <p:sp>
        <p:nvSpPr>
          <p:cNvPr id="46" name="Rectangle 7"/>
          <p:cNvSpPr/>
          <p:nvPr/>
        </p:nvSpPr>
        <p:spPr>
          <a:xfrm>
            <a:off x="1051560" y="3840480"/>
            <a:ext cx="1645560" cy="6372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8"/>
          <p:cNvSpPr/>
          <p:nvPr/>
        </p:nvSpPr>
        <p:spPr>
          <a:xfrm>
            <a:off x="1005840" y="4023360"/>
            <a:ext cx="9143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94a3b8"/>
                </a:solidFill>
                <a:latin typeface="Segoe UI"/>
              </a:rPr>
              <a:t>DW Organizacional — Mercearia (B2C) + Northwind (B2B)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8" name="TextBox 9"/>
          <p:cNvSpPr/>
          <p:nvPr/>
        </p:nvSpPr>
        <p:spPr>
          <a:xfrm>
            <a:off x="1005840" y="466344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K-Means + Apriori  ·  Data Mart dm_vendas  ·  Outubro/2026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Modelo DW Organizacional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2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8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42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Modelo Data Marts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55" name="TextBox 43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2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6" name="TextBox 44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3"/>
          <p:cNvSpPr/>
          <p:nvPr/>
        </p:nvSpPr>
        <p:spPr>
          <a:xfrm>
            <a:off x="36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1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Contexto e Objetivos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Duas fontes transacionais, uma visão integrada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60" name="Rectangle 6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31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2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62" name="TextBox 32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63" name="Rounded Rectangle 1"/>
          <p:cNvSpPr/>
          <p:nvPr/>
        </p:nvSpPr>
        <p:spPr>
          <a:xfrm>
            <a:off x="685800" y="1783080"/>
            <a:ext cx="25599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33"/>
          <p:cNvSpPr/>
          <p:nvPr/>
        </p:nvSpPr>
        <p:spPr>
          <a:xfrm>
            <a:off x="685800" y="1874520"/>
            <a:ext cx="2559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00d4ff"/>
                </a:solidFill>
                <a:latin typeface="Segoe UI"/>
              </a:rPr>
              <a:t>100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65" name="TextBox 34"/>
          <p:cNvSpPr/>
          <p:nvPr/>
        </p:nvSpPr>
        <p:spPr>
          <a:xfrm>
            <a:off x="685800" y="2514600"/>
            <a:ext cx="2559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Clientes Mercearia (B2C)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3429000" y="1783080"/>
            <a:ext cx="25599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35"/>
          <p:cNvSpPr/>
          <p:nvPr/>
        </p:nvSpPr>
        <p:spPr>
          <a:xfrm>
            <a:off x="3429000" y="1874520"/>
            <a:ext cx="2559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a855f7"/>
                </a:solidFill>
                <a:latin typeface="Segoe UI"/>
              </a:rPr>
              <a:t>89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68" name="TextBox 36"/>
          <p:cNvSpPr/>
          <p:nvPr/>
        </p:nvSpPr>
        <p:spPr>
          <a:xfrm>
            <a:off x="3429000" y="2514600"/>
            <a:ext cx="2559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Clientes Northwind (B2B)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6172200" y="1783080"/>
            <a:ext cx="25599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37"/>
          <p:cNvSpPr/>
          <p:nvPr/>
        </p:nvSpPr>
        <p:spPr>
          <a:xfrm>
            <a:off x="6172200" y="1874520"/>
            <a:ext cx="2559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10b981"/>
                </a:solidFill>
                <a:latin typeface="Segoe UI"/>
              </a:rPr>
              <a:t>189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71" name="TextBox 38"/>
          <p:cNvSpPr/>
          <p:nvPr/>
        </p:nvSpPr>
        <p:spPr>
          <a:xfrm>
            <a:off x="6172200" y="2514600"/>
            <a:ext cx="2559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Base integrada via DW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8915400" y="1783080"/>
            <a:ext cx="25599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f1c4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39"/>
          <p:cNvSpPr/>
          <p:nvPr/>
        </p:nvSpPr>
        <p:spPr>
          <a:xfrm>
            <a:off x="8915400" y="1874520"/>
            <a:ext cx="25599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1c40f"/>
                </a:solidFill>
                <a:latin typeface="Segoe UI"/>
              </a:rPr>
              <a:t>930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74" name="TextBox 40"/>
          <p:cNvSpPr/>
          <p:nvPr/>
        </p:nvSpPr>
        <p:spPr>
          <a:xfrm>
            <a:off x="8915400" y="2514600"/>
            <a:ext cx="2559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Cestas analisadas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685800" y="3154680"/>
            <a:ext cx="10789560" cy="3017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41"/>
          <p:cNvSpPr/>
          <p:nvPr/>
        </p:nvSpPr>
        <p:spPr>
          <a:xfrm>
            <a:off x="914400" y="3337560"/>
            <a:ext cx="10332360" cy="22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00d4ff"/>
                </a:solidFill>
                <a:latin typeface="Segoe UI"/>
              </a:rPr>
              <a:t>1. Clusterizar </a:t>
            </a:r>
            <a:r>
              <a:rPr b="0" lang="en-US" sz="1800" spc="-1" strike="noStrike">
                <a:solidFill>
                  <a:srgbClr val="ffffff"/>
                </a:solidFill>
                <a:latin typeface="Segoe UI"/>
              </a:rPr>
              <a:t>clientes por comportamento de compra (K-Means)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00d4ff"/>
                </a:solidFill>
                <a:latin typeface="Segoe UI"/>
              </a:rPr>
              <a:t>2. Segmentar </a:t>
            </a:r>
            <a:r>
              <a:rPr b="0" lang="en-US" sz="1800" spc="-1" strike="noStrike">
                <a:solidFill>
                  <a:srgbClr val="ffffff"/>
                </a:solidFill>
                <a:latin typeface="Segoe UI"/>
              </a:rPr>
              <a:t>as transações por grupo de clientes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00d4ff"/>
                </a:solidFill>
                <a:latin typeface="Segoe UI"/>
              </a:rPr>
              <a:t>3. Minerar </a:t>
            </a:r>
            <a:r>
              <a:rPr b="0" lang="en-US" sz="1800" spc="-1" strike="noStrike">
                <a:solidFill>
                  <a:srgbClr val="ffffff"/>
                </a:solidFill>
                <a:latin typeface="Segoe UI"/>
              </a:rPr>
              <a:t>Apriori aplicado dentro de cada cluster (Market Basket)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00d4ff"/>
                </a:solidFill>
                <a:latin typeface="Segoe UI"/>
              </a:rPr>
              <a:t>4. Gerar </a:t>
            </a:r>
            <a:r>
              <a:rPr b="0" lang="en-US" sz="1800" spc="-1" strike="noStrike">
                <a:solidFill>
                  <a:srgbClr val="ffffff"/>
                </a:solidFill>
                <a:latin typeface="Segoe UI"/>
              </a:rPr>
              <a:t>regras de associação específicas por segmento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800" spc="-1" strike="noStrike">
                <a:solidFill>
                  <a:srgbClr val="00d4ff"/>
                </a:solidFill>
                <a:latin typeface="Segoe UI"/>
              </a:rPr>
              <a:t>Diferencial </a:t>
            </a:r>
            <a:r>
              <a:rPr b="0" lang="en-US" sz="1800" spc="-1" strike="noStrike">
                <a:solidFill>
                  <a:srgbClr val="ffffff"/>
                </a:solidFill>
                <a:latin typeface="Segoe UI"/>
              </a:rPr>
              <a:t>o Apriori NÃO roda na base toda — roda por segmento, gerando regras mais relevantes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Arquitetura da Solução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Do DW às 3.804 regras de associação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3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631080" y="2034360"/>
            <a:ext cx="6876000" cy="38862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4" name="Picture 9" descr="fluxo_solucao_1791584645911.jpg"/>
          <p:cNvPicPr/>
          <p:nvPr/>
        </p:nvPicPr>
        <p:blipFill>
          <a:blip r:embed="rId1"/>
          <a:stretch/>
        </p:blipFill>
        <p:spPr>
          <a:xfrm>
            <a:off x="685800" y="2089440"/>
            <a:ext cx="6766200" cy="3776400"/>
          </a:xfrm>
          <a:prstGeom prst="rect">
            <a:avLst/>
          </a:prstGeom>
          <a:ln w="0">
            <a:noFill/>
          </a:ln>
        </p:spPr>
      </p:pic>
      <p:sp>
        <p:nvSpPr>
          <p:cNvPr id="85" name="Rounded Rectangle 10"/>
          <p:cNvSpPr/>
          <p:nvPr/>
        </p:nvSpPr>
        <p:spPr>
          <a:xfrm>
            <a:off x="7680960" y="1737360"/>
            <a:ext cx="3840120" cy="4480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11"/>
          <p:cNvSpPr/>
          <p:nvPr/>
        </p:nvSpPr>
        <p:spPr>
          <a:xfrm>
            <a:off x="7909560" y="1920240"/>
            <a:ext cx="3382920" cy="26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Fontes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Mercearia + Northwind → dw_organizacional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Data Mart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dm_vendas, 7 variáveis comportamentais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K-Means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K = 4 clusters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Apriori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Supp ≥ 5% · Conf ≥ 30% · Lift ≥ 1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id_transacao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sistema_origem + '_' + id_pedido (unicidade global)</a:t>
            </a:r>
            <a:endParaRPr b="0" lang="pt-B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Preparação e Normalização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7 variáveis comportamentais por cliente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90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4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93" name="Rounded Rectangle 8"/>
          <p:cNvSpPr/>
          <p:nvPr/>
        </p:nvSpPr>
        <p:spPr>
          <a:xfrm>
            <a:off x="685800" y="178308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9"/>
          <p:cNvSpPr/>
          <p:nvPr/>
        </p:nvSpPr>
        <p:spPr>
          <a:xfrm>
            <a:off x="777240" y="185616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00d4ff"/>
                </a:solidFill>
                <a:latin typeface="Consolas"/>
              </a:rPr>
              <a:t>recencia_dias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777240" y="224028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Dias desde a última compra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6" name="Rounded Rectangle 11"/>
          <p:cNvSpPr/>
          <p:nvPr/>
        </p:nvSpPr>
        <p:spPr>
          <a:xfrm>
            <a:off x="3886200" y="178308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12"/>
          <p:cNvSpPr/>
          <p:nvPr/>
        </p:nvSpPr>
        <p:spPr>
          <a:xfrm>
            <a:off x="3977640" y="185616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a855f7"/>
                </a:solidFill>
                <a:latin typeface="Consolas"/>
              </a:rPr>
              <a:t>frequencia_compras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3977640" y="224028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Nº de transações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9" name="Rounded Rectangle 14"/>
          <p:cNvSpPr/>
          <p:nvPr/>
        </p:nvSpPr>
        <p:spPr>
          <a:xfrm>
            <a:off x="685800" y="288036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15"/>
          <p:cNvSpPr/>
          <p:nvPr/>
        </p:nvSpPr>
        <p:spPr>
          <a:xfrm>
            <a:off x="777240" y="295344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00d4ff"/>
                </a:solidFill>
                <a:latin typeface="Consolas"/>
              </a:rPr>
              <a:t>quantidade_itens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777240" y="333756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Total de itens comprados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2" name="Rounded Rectangle 17"/>
          <p:cNvSpPr/>
          <p:nvPr/>
        </p:nvSpPr>
        <p:spPr>
          <a:xfrm>
            <a:off x="3886200" y="288036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18"/>
          <p:cNvSpPr/>
          <p:nvPr/>
        </p:nvSpPr>
        <p:spPr>
          <a:xfrm>
            <a:off x="3977640" y="295344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a855f7"/>
                </a:solidFill>
                <a:latin typeface="Consolas"/>
              </a:rPr>
              <a:t>valor_total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3977640" y="333756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Valor financeiro total (R$)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5" name="Rounded Rectangle 20"/>
          <p:cNvSpPr/>
          <p:nvPr/>
        </p:nvSpPr>
        <p:spPr>
          <a:xfrm>
            <a:off x="685800" y="397764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21"/>
          <p:cNvSpPr/>
          <p:nvPr/>
        </p:nvSpPr>
        <p:spPr>
          <a:xfrm>
            <a:off x="777240" y="405072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00d4ff"/>
                </a:solidFill>
                <a:latin typeface="Consolas"/>
              </a:rPr>
              <a:t>ticket_medio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777240" y="443484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Valor médio por transação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8" name="Rounded Rectangle 23"/>
          <p:cNvSpPr/>
          <p:nvPr/>
        </p:nvSpPr>
        <p:spPr>
          <a:xfrm>
            <a:off x="3886200" y="397764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24"/>
          <p:cNvSpPr/>
          <p:nvPr/>
        </p:nvSpPr>
        <p:spPr>
          <a:xfrm>
            <a:off x="3977640" y="405072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a855f7"/>
                </a:solidFill>
                <a:latin typeface="Consolas"/>
              </a:rPr>
              <a:t>produtos_distintos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10" name="TextBox 25"/>
          <p:cNvSpPr/>
          <p:nvPr/>
        </p:nvSpPr>
        <p:spPr>
          <a:xfrm>
            <a:off x="3977640" y="443484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Variedade de produtos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11" name="Rounded Rectangle 26"/>
          <p:cNvSpPr/>
          <p:nvPr/>
        </p:nvSpPr>
        <p:spPr>
          <a:xfrm>
            <a:off x="685800" y="507492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27"/>
          <p:cNvSpPr/>
          <p:nvPr/>
        </p:nvSpPr>
        <p:spPr>
          <a:xfrm>
            <a:off x="777240" y="5148000"/>
            <a:ext cx="2834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00d4ff"/>
                </a:solidFill>
                <a:latin typeface="Consolas"/>
              </a:rPr>
              <a:t>categorias_distintas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777240" y="5532120"/>
            <a:ext cx="2834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Variedade de categorias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14" name="Rounded Rectangle 29"/>
          <p:cNvSpPr/>
          <p:nvPr/>
        </p:nvSpPr>
        <p:spPr>
          <a:xfrm>
            <a:off x="7269480" y="1783080"/>
            <a:ext cx="4251600" cy="43430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30"/>
          <p:cNvSpPr/>
          <p:nvPr/>
        </p:nvSpPr>
        <p:spPr>
          <a:xfrm>
            <a:off x="7498080" y="1965960"/>
            <a:ext cx="3794400" cy="241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Por que normalizar?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K-Means usa distância euclidiana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valor_total (milhares) dominaria a frequência (dezenas)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StandardScaler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média 0 e desvio-padrão 1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Resultado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todas as variáveis com peso equivalente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K-Means e Seleção do K Ótimo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Silhouette Score testado de K=2 a K=7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5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631080" y="1983240"/>
            <a:ext cx="7058880" cy="39880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23" name="Picture 9" descr="kmeans_processo_1791584792834.jpg"/>
          <p:cNvPicPr/>
          <p:nvPr/>
        </p:nvPicPr>
        <p:blipFill>
          <a:blip r:embed="rId1"/>
          <a:stretch/>
        </p:blipFill>
        <p:spPr>
          <a:xfrm>
            <a:off x="685800" y="2038320"/>
            <a:ext cx="6949080" cy="3878280"/>
          </a:xfrm>
          <a:prstGeom prst="rect">
            <a:avLst/>
          </a:prstGeom>
          <a:ln w="0">
            <a:noFill/>
          </a:ln>
        </p:spPr>
      </p:pic>
      <p:sp>
        <p:nvSpPr>
          <p:cNvPr id="124" name="Rounded Rectangle 10"/>
          <p:cNvSpPr/>
          <p:nvPr/>
        </p:nvSpPr>
        <p:spPr>
          <a:xfrm>
            <a:off x="7863840" y="1737360"/>
            <a:ext cx="3657240" cy="4480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11"/>
          <p:cNvSpPr/>
          <p:nvPr/>
        </p:nvSpPr>
        <p:spPr>
          <a:xfrm>
            <a:off x="8092440" y="1920240"/>
            <a:ext cx="3200040" cy="19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Algoritmo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atribui clientes ao centroide mais próximo e recalcula até convergir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Silhouette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mede coesão interna e separação externa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Resultado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K = 4 maximizou o score</a:t>
            </a:r>
            <a:endParaRPr b="0" lang="pt-B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Distribuição dos Clusters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189 clientes em 4 perfis distintos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6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2" name="Rounded Rectangle 8"/>
          <p:cNvSpPr/>
          <p:nvPr/>
        </p:nvSpPr>
        <p:spPr>
          <a:xfrm>
            <a:off x="631080" y="2238480"/>
            <a:ext cx="6144480" cy="3477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33" name="Picture 9" descr="distribuicao_clusters_1791584657112.jpg"/>
          <p:cNvPicPr/>
          <p:nvPr/>
        </p:nvPicPr>
        <p:blipFill>
          <a:blip r:embed="rId1"/>
          <a:stretch/>
        </p:blipFill>
        <p:spPr>
          <a:xfrm>
            <a:off x="685800" y="2293560"/>
            <a:ext cx="6034680" cy="3368160"/>
          </a:xfrm>
          <a:prstGeom prst="rect">
            <a:avLst/>
          </a:prstGeom>
          <a:ln w="0">
            <a:noFill/>
          </a:ln>
        </p:spPr>
      </p:pic>
      <p:sp>
        <p:nvSpPr>
          <p:cNvPr id="134" name="Rounded Rectangle 10"/>
          <p:cNvSpPr/>
          <p:nvPr/>
        </p:nvSpPr>
        <p:spPr>
          <a:xfrm>
            <a:off x="6949440" y="1737360"/>
            <a:ext cx="457164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11"/>
          <p:cNvSpPr/>
          <p:nvPr/>
        </p:nvSpPr>
        <p:spPr>
          <a:xfrm>
            <a:off x="7040880" y="1982160"/>
            <a:ext cx="9140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00d4ff"/>
                </a:solidFill>
                <a:latin typeface="Segoe UI"/>
              </a:rPr>
              <a:t>C0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36" name="TextBox 12"/>
          <p:cNvSpPr/>
          <p:nvPr/>
        </p:nvSpPr>
        <p:spPr>
          <a:xfrm>
            <a:off x="7955280" y="1828800"/>
            <a:ext cx="3474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Segoe UI"/>
              </a:rPr>
              <a:t>Mercearia · 100 clientes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37" name="TextBox 13"/>
          <p:cNvSpPr/>
          <p:nvPr/>
        </p:nvSpPr>
        <p:spPr>
          <a:xfrm>
            <a:off x="7955280" y="22402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B2C · cestas de 10 itens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38" name="Rounded Rectangle 14"/>
          <p:cNvSpPr/>
          <p:nvPr/>
        </p:nvSpPr>
        <p:spPr>
          <a:xfrm>
            <a:off x="6949440" y="2880360"/>
            <a:ext cx="457164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15"/>
          <p:cNvSpPr/>
          <p:nvPr/>
        </p:nvSpPr>
        <p:spPr>
          <a:xfrm>
            <a:off x="7040880" y="3125160"/>
            <a:ext cx="9140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a855f7"/>
                </a:solidFill>
                <a:latin typeface="Segoe UI"/>
              </a:rPr>
              <a:t>C1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7955280" y="2971800"/>
            <a:ext cx="3474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Segoe UI"/>
              </a:rPr>
              <a:t>Northwind · 39 clientes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7955280" y="33832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B2B · muitas transações, cestas enxutas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42" name="Rounded Rectangle 18"/>
          <p:cNvSpPr/>
          <p:nvPr/>
        </p:nvSpPr>
        <p:spPr>
          <a:xfrm>
            <a:off x="6949440" y="4023360"/>
            <a:ext cx="457164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f1c4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19"/>
          <p:cNvSpPr/>
          <p:nvPr/>
        </p:nvSpPr>
        <p:spPr>
          <a:xfrm>
            <a:off x="7040880" y="4268160"/>
            <a:ext cx="9140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f1c40f"/>
                </a:solidFill>
                <a:latin typeface="Segoe UI"/>
              </a:rPr>
              <a:t>C2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44" name="TextBox 20"/>
          <p:cNvSpPr/>
          <p:nvPr/>
        </p:nvSpPr>
        <p:spPr>
          <a:xfrm>
            <a:off x="7955280" y="4114800"/>
            <a:ext cx="3474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Segoe UI"/>
              </a:rPr>
              <a:t>Northwind · 3 clientes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7955280" y="45262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B2B · clientes VIP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46" name="Rounded Rectangle 22"/>
          <p:cNvSpPr/>
          <p:nvPr/>
        </p:nvSpPr>
        <p:spPr>
          <a:xfrm>
            <a:off x="6949440" y="5166360"/>
            <a:ext cx="457164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23"/>
          <p:cNvSpPr/>
          <p:nvPr/>
        </p:nvSpPr>
        <p:spPr>
          <a:xfrm>
            <a:off x="7040880" y="5411160"/>
            <a:ext cx="9140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10b981"/>
                </a:solidFill>
                <a:latin typeface="Segoe UI"/>
              </a:rPr>
              <a:t>C3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48" name="TextBox 24"/>
          <p:cNvSpPr/>
          <p:nvPr/>
        </p:nvSpPr>
        <p:spPr>
          <a:xfrm>
            <a:off x="7955280" y="5257800"/>
            <a:ext cx="3474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Segoe UI"/>
              </a:rPr>
              <a:t>Northwind · 47 clientes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7955280" y="56692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B2B · perfil intermediário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Pipeline Apriori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Market Basket Analysis por cluster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7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685800" y="2103120"/>
            <a:ext cx="1416960" cy="1737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9"/>
          <p:cNvSpPr/>
          <p:nvPr/>
        </p:nvSpPr>
        <p:spPr>
          <a:xfrm>
            <a:off x="685800" y="2675520"/>
            <a:ext cx="1416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00d4ff"/>
                </a:solidFill>
                <a:latin typeface="Segoe UI"/>
              </a:rPr>
              <a:t>Transações</a:t>
            </a:r>
            <a:endParaRPr b="0" lang="pt-B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00d4ff"/>
                </a:solidFill>
                <a:latin typeface="Segoe UI"/>
              </a:rPr>
              <a:t>por cluster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2057400" y="2651760"/>
            <a:ext cx="365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94a3b8"/>
                </a:solidFill>
                <a:latin typeface="Segoe UI"/>
              </a:rPr>
              <a:t>›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59" name="Rounded Rectangle 11"/>
          <p:cNvSpPr/>
          <p:nvPr/>
        </p:nvSpPr>
        <p:spPr>
          <a:xfrm>
            <a:off x="2313360" y="2103120"/>
            <a:ext cx="1416960" cy="1737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12"/>
          <p:cNvSpPr/>
          <p:nvPr/>
        </p:nvSpPr>
        <p:spPr>
          <a:xfrm>
            <a:off x="2313360" y="2675520"/>
            <a:ext cx="1416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a855f7"/>
                </a:solidFill>
                <a:latin typeface="Segoe UI"/>
              </a:rPr>
              <a:t>Matriz</a:t>
            </a:r>
            <a:endParaRPr b="0" lang="pt-B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a855f7"/>
                </a:solidFill>
                <a:latin typeface="Segoe UI"/>
              </a:rPr>
              <a:t>binária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3684960" y="2651760"/>
            <a:ext cx="365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94a3b8"/>
                </a:solidFill>
                <a:latin typeface="Segoe UI"/>
              </a:rPr>
              <a:t>›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62" name="Rounded Rectangle 14"/>
          <p:cNvSpPr/>
          <p:nvPr/>
        </p:nvSpPr>
        <p:spPr>
          <a:xfrm>
            <a:off x="3940920" y="2103120"/>
            <a:ext cx="1416960" cy="1737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15"/>
          <p:cNvSpPr/>
          <p:nvPr/>
        </p:nvSpPr>
        <p:spPr>
          <a:xfrm>
            <a:off x="3940920" y="2675520"/>
            <a:ext cx="1416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10b981"/>
                </a:solidFill>
                <a:latin typeface="Segoe UI"/>
              </a:rPr>
              <a:t>Itemsets</a:t>
            </a:r>
            <a:endParaRPr b="0" lang="pt-B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10b981"/>
                </a:solidFill>
                <a:latin typeface="Segoe UI"/>
              </a:rPr>
              <a:t>frequentes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5312520" y="2651760"/>
            <a:ext cx="365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2800" spc="-1" strike="noStrike">
                <a:solidFill>
                  <a:srgbClr val="94a3b8"/>
                </a:solidFill>
                <a:latin typeface="Segoe UI"/>
              </a:rPr>
              <a:t>›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65" name="Rounded Rectangle 17"/>
          <p:cNvSpPr/>
          <p:nvPr/>
        </p:nvSpPr>
        <p:spPr>
          <a:xfrm>
            <a:off x="5568840" y="2103120"/>
            <a:ext cx="1416960" cy="17370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f1c4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18"/>
          <p:cNvSpPr/>
          <p:nvPr/>
        </p:nvSpPr>
        <p:spPr>
          <a:xfrm>
            <a:off x="5568840" y="2675520"/>
            <a:ext cx="1416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f1c40f"/>
                </a:solidFill>
                <a:latin typeface="Segoe UI"/>
              </a:rPr>
              <a:t>Regras</a:t>
            </a:r>
            <a:endParaRPr b="0" lang="pt-B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f1c40f"/>
                </a:solidFill>
                <a:latin typeface="Segoe UI"/>
              </a:rPr>
              <a:t>A → B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7" name="Rounded Rectangle 19"/>
          <p:cNvSpPr/>
          <p:nvPr/>
        </p:nvSpPr>
        <p:spPr>
          <a:xfrm>
            <a:off x="685800" y="4846320"/>
            <a:ext cx="20113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20"/>
          <p:cNvSpPr/>
          <p:nvPr/>
        </p:nvSpPr>
        <p:spPr>
          <a:xfrm>
            <a:off x="685800" y="4937760"/>
            <a:ext cx="2011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00d4ff"/>
                </a:solidFill>
                <a:latin typeface="Segoe UI"/>
              </a:rPr>
              <a:t>≥ </a:t>
            </a:r>
            <a:r>
              <a:rPr b="1" lang="en-US" sz="3200" spc="-1" strike="noStrike">
                <a:solidFill>
                  <a:srgbClr val="00d4ff"/>
                </a:solidFill>
                <a:latin typeface="Segoe UI"/>
              </a:rPr>
              <a:t>5%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685800" y="557784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MIN_SUPPORT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70" name="Rounded Rectangle 22"/>
          <p:cNvSpPr/>
          <p:nvPr/>
        </p:nvSpPr>
        <p:spPr>
          <a:xfrm>
            <a:off x="2880360" y="4846320"/>
            <a:ext cx="20113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23"/>
          <p:cNvSpPr/>
          <p:nvPr/>
        </p:nvSpPr>
        <p:spPr>
          <a:xfrm>
            <a:off x="2880360" y="4937760"/>
            <a:ext cx="2011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a855f7"/>
                </a:solidFill>
                <a:latin typeface="Segoe UI"/>
              </a:rPr>
              <a:t>≥ </a:t>
            </a:r>
            <a:r>
              <a:rPr b="1" lang="en-US" sz="3200" spc="-1" strike="noStrike">
                <a:solidFill>
                  <a:srgbClr val="a855f7"/>
                </a:solidFill>
                <a:latin typeface="Segoe UI"/>
              </a:rPr>
              <a:t>30%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72" name="TextBox 24"/>
          <p:cNvSpPr/>
          <p:nvPr/>
        </p:nvSpPr>
        <p:spPr>
          <a:xfrm>
            <a:off x="2880360" y="557784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MIN_CONFIDENCE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73" name="Rounded Rectangle 25"/>
          <p:cNvSpPr/>
          <p:nvPr/>
        </p:nvSpPr>
        <p:spPr>
          <a:xfrm>
            <a:off x="5074920" y="4846320"/>
            <a:ext cx="20113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26"/>
          <p:cNvSpPr/>
          <p:nvPr/>
        </p:nvSpPr>
        <p:spPr>
          <a:xfrm>
            <a:off x="5074920" y="4937760"/>
            <a:ext cx="2011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10b981"/>
                </a:solidFill>
                <a:latin typeface="Segoe UI"/>
              </a:rPr>
              <a:t>≥ </a:t>
            </a:r>
            <a:r>
              <a:rPr b="1" lang="en-US" sz="3200" spc="-1" strike="noStrike">
                <a:solidFill>
                  <a:srgbClr val="10b981"/>
                </a:solidFill>
                <a:latin typeface="Segoe UI"/>
              </a:rPr>
              <a:t>1,0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75" name="TextBox 27"/>
          <p:cNvSpPr/>
          <p:nvPr/>
        </p:nvSpPr>
        <p:spPr>
          <a:xfrm>
            <a:off x="5074920" y="557784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MIN_LIFT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76" name="Rounded Rectangle 28"/>
          <p:cNvSpPr/>
          <p:nvPr/>
        </p:nvSpPr>
        <p:spPr>
          <a:xfrm>
            <a:off x="7315200" y="1737360"/>
            <a:ext cx="4205880" cy="425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Box 29"/>
          <p:cNvSpPr/>
          <p:nvPr/>
        </p:nvSpPr>
        <p:spPr>
          <a:xfrm>
            <a:off x="7543800" y="1920240"/>
            <a:ext cx="3748680" cy="19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Matriz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TransactionEncoder (transações × produtos)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Cluster 0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3.804 regras ✓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Clusters 1, 2, 3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0 regras (suporte &lt; 5%)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Biblioteca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MLxtend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Métricas de Associação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Suporte · Confiança · Lift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8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4" name="Rounded Rectangle 8"/>
          <p:cNvSpPr/>
          <p:nvPr/>
        </p:nvSpPr>
        <p:spPr>
          <a:xfrm>
            <a:off x="631080" y="2085480"/>
            <a:ext cx="6693120" cy="3783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85" name="Picture 9" descr="metricas_associacao_1791584702889.jpg"/>
          <p:cNvPicPr/>
          <p:nvPr/>
        </p:nvPicPr>
        <p:blipFill>
          <a:blip r:embed="rId1"/>
          <a:stretch/>
        </p:blipFill>
        <p:spPr>
          <a:xfrm>
            <a:off x="685800" y="2140200"/>
            <a:ext cx="6583320" cy="3674160"/>
          </a:xfrm>
          <a:prstGeom prst="rect">
            <a:avLst/>
          </a:prstGeom>
          <a:ln w="0">
            <a:noFill/>
          </a:ln>
        </p:spPr>
      </p:pic>
      <p:sp>
        <p:nvSpPr>
          <p:cNvPr id="186" name="Rounded Rectangle 10"/>
          <p:cNvSpPr/>
          <p:nvPr/>
        </p:nvSpPr>
        <p:spPr>
          <a:xfrm>
            <a:off x="7589520" y="1737360"/>
            <a:ext cx="39315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f1c4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1"/>
          <p:cNvSpPr/>
          <p:nvPr/>
        </p:nvSpPr>
        <p:spPr>
          <a:xfrm>
            <a:off x="7589520" y="1828800"/>
            <a:ext cx="393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1c40f"/>
                </a:solidFill>
                <a:latin typeface="Segoe UI"/>
              </a:rPr>
              <a:t>Suporte 16%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7589520" y="2468880"/>
            <a:ext cx="3931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16 de cada 100 cestas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89" name="Rounded Rectangle 13"/>
          <p:cNvSpPr/>
          <p:nvPr/>
        </p:nvSpPr>
        <p:spPr>
          <a:xfrm>
            <a:off x="7589520" y="3063240"/>
            <a:ext cx="39315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14"/>
          <p:cNvSpPr/>
          <p:nvPr/>
        </p:nvSpPr>
        <p:spPr>
          <a:xfrm>
            <a:off x="7589520" y="3154680"/>
            <a:ext cx="393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10b981"/>
                </a:solidFill>
                <a:latin typeface="Segoe UI"/>
              </a:rPr>
              <a:t>Confiança 100%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7589520" y="3794760"/>
            <a:ext cx="3931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sempre juntos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92" name="Rounded Rectangle 16"/>
          <p:cNvSpPr/>
          <p:nvPr/>
        </p:nvSpPr>
        <p:spPr>
          <a:xfrm>
            <a:off x="7589520" y="4389120"/>
            <a:ext cx="393156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17"/>
          <p:cNvSpPr/>
          <p:nvPr/>
        </p:nvSpPr>
        <p:spPr>
          <a:xfrm>
            <a:off x="7589520" y="4480560"/>
            <a:ext cx="393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a855f7"/>
                </a:solidFill>
                <a:latin typeface="Segoe UI"/>
              </a:rPr>
              <a:t>Lift 5,0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7589520" y="5120640"/>
            <a:ext cx="3931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5× mais provável que o acaso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Exemplo de Regra Descoberta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Cluster 0 — Mercearia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98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9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01" name="Rounded Rectangle 8"/>
          <p:cNvSpPr/>
          <p:nvPr/>
        </p:nvSpPr>
        <p:spPr>
          <a:xfrm>
            <a:off x="631080" y="2391840"/>
            <a:ext cx="5595840" cy="3171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02" name="Picture 9" descr="market_basket_exemplo_1791584716160.jpg"/>
          <p:cNvPicPr/>
          <p:nvPr/>
        </p:nvPicPr>
        <p:blipFill>
          <a:blip r:embed="rId1"/>
          <a:stretch/>
        </p:blipFill>
        <p:spPr>
          <a:xfrm>
            <a:off x="685800" y="2446560"/>
            <a:ext cx="5486040" cy="3061800"/>
          </a:xfrm>
          <a:prstGeom prst="rect">
            <a:avLst/>
          </a:prstGeom>
          <a:ln w="0">
            <a:noFill/>
          </a:ln>
        </p:spPr>
      </p:pic>
      <p:sp>
        <p:nvSpPr>
          <p:cNvPr id="203" name="Rounded Rectangle 10"/>
          <p:cNvSpPr/>
          <p:nvPr/>
        </p:nvSpPr>
        <p:spPr>
          <a:xfrm>
            <a:off x="6400800" y="1737360"/>
            <a:ext cx="5120280" cy="4480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11"/>
          <p:cNvSpPr/>
          <p:nvPr/>
        </p:nvSpPr>
        <p:spPr>
          <a:xfrm>
            <a:off x="6629400" y="1920240"/>
            <a:ext cx="4663080" cy="21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Regra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Achocolatado 400g + Água Sanitária 1L → Água Mineral 1.5L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Açúcar + Desinfetante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→ Creme Dental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Amaciante + Feijão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→ Condicionador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Arroz + Sabão em Pó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→ Shampoo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Top 20 regras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Suporte 16% · Confiança 100% · Lift 5,0</a:t>
            </a:r>
            <a:endParaRPr b="0" lang="pt-B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Comparativo B2C vs B2B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Por que o B2B não gerou regras com suporte de 5%?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08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10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11" name="Rounded Rectangle 8"/>
          <p:cNvSpPr/>
          <p:nvPr/>
        </p:nvSpPr>
        <p:spPr>
          <a:xfrm>
            <a:off x="631080" y="2289600"/>
            <a:ext cx="5961600" cy="3375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12" name="Picture 9" descr="comparativo_clusters_1791584819835.jpg"/>
          <p:cNvPicPr/>
          <p:nvPr/>
        </p:nvPicPr>
        <p:blipFill>
          <a:blip r:embed="rId1"/>
          <a:stretch/>
        </p:blipFill>
        <p:spPr>
          <a:xfrm>
            <a:off x="685800" y="2344320"/>
            <a:ext cx="5851800" cy="3265920"/>
          </a:xfrm>
          <a:prstGeom prst="rect">
            <a:avLst/>
          </a:prstGeom>
          <a:ln w="0">
            <a:noFill/>
          </a:ln>
        </p:spPr>
      </p:pic>
      <p:sp>
        <p:nvSpPr>
          <p:cNvPr id="213" name="Rounded Rectangle 10"/>
          <p:cNvSpPr/>
          <p:nvPr/>
        </p:nvSpPr>
        <p:spPr>
          <a:xfrm>
            <a:off x="6766560" y="1737360"/>
            <a:ext cx="4754520" cy="2468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11"/>
          <p:cNvSpPr/>
          <p:nvPr/>
        </p:nvSpPr>
        <p:spPr>
          <a:xfrm>
            <a:off x="6995160" y="1920240"/>
            <a:ext cx="429732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Cestas B2B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2–3 itens vs 10 no B2C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Suporte máx.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7,1% (B2B) vs 30% (B2C)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Catálogo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disperso e gourmet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215" name="Rounded Rectangle 12"/>
          <p:cNvSpPr/>
          <p:nvPr/>
        </p:nvSpPr>
        <p:spPr>
          <a:xfrm>
            <a:off x="6766560" y="4389120"/>
            <a:ext cx="4754520" cy="1782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13"/>
          <p:cNvSpPr/>
          <p:nvPr/>
        </p:nvSpPr>
        <p:spPr>
          <a:xfrm>
            <a:off x="6995160" y="4572000"/>
            <a:ext cx="42973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Solução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reduzir MIN_SUPPORT para 1–2%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500" spc="-1" strike="noStrike">
                <a:solidFill>
                  <a:srgbClr val="00d4ff"/>
                </a:solidFill>
                <a:latin typeface="Segoe UI"/>
              </a:rPr>
              <a:t>Ex. </a:t>
            </a:r>
            <a:r>
              <a:rPr b="0" lang="en-US" sz="1500" spc="-1" strike="noStrike">
                <a:solidFill>
                  <a:srgbClr val="ffffff"/>
                </a:solidFill>
                <a:latin typeface="Segoe UI"/>
              </a:rPr>
              <a:t>Chai → Flotemysost</a:t>
            </a:r>
            <a:endParaRPr b="0" lang="pt-B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3"/>
          <p:cNvSpPr/>
          <p:nvPr/>
        </p:nvSpPr>
        <p:spPr>
          <a:xfrm>
            <a:off x="640080" y="320040"/>
            <a:ext cx="10515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Segoe UI Semibold"/>
              </a:rPr>
              <a:t>Aplicações e Conclusões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640080" y="100584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Segoe UI"/>
              </a:rPr>
              <a:t>De relatórios históricos à inteligência prescritiva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685800" y="1508760"/>
            <a:ext cx="1096920" cy="4536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6"/>
          <p:cNvSpPr/>
          <p:nvPr/>
        </p:nvSpPr>
        <p:spPr>
          <a:xfrm>
            <a:off x="10972800" y="6355080"/>
            <a:ext cx="914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11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640080" y="6355080"/>
            <a:ext cx="7314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DW Organizacional · dm_vendas · K-Means + Apriori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23" name="Rounded Rectangle 8"/>
          <p:cNvSpPr/>
          <p:nvPr/>
        </p:nvSpPr>
        <p:spPr>
          <a:xfrm>
            <a:off x="685800" y="178308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9"/>
          <p:cNvSpPr/>
          <p:nvPr/>
        </p:nvSpPr>
        <p:spPr>
          <a:xfrm>
            <a:off x="685800" y="2165040"/>
            <a:ext cx="25599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🛍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Promoções Cruzadas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5" name="Rounded Rectangle 10"/>
          <p:cNvSpPr/>
          <p:nvPr/>
        </p:nvSpPr>
        <p:spPr>
          <a:xfrm>
            <a:off x="3429000" y="178308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11"/>
          <p:cNvSpPr/>
          <p:nvPr/>
        </p:nvSpPr>
        <p:spPr>
          <a:xfrm>
            <a:off x="3429000" y="2165040"/>
            <a:ext cx="25599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a855f7"/>
                </a:solidFill>
                <a:latin typeface="Segoe UI"/>
              </a:rPr>
              <a:t>🏪 </a:t>
            </a:r>
            <a:r>
              <a:rPr b="1" lang="en-US" sz="1600" spc="-1" strike="noStrike">
                <a:solidFill>
                  <a:srgbClr val="a855f7"/>
                </a:solidFill>
                <a:latin typeface="Segoe UI"/>
              </a:rPr>
              <a:t>Layout de Gôndola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7" name="Rounded Rectangle 12"/>
          <p:cNvSpPr/>
          <p:nvPr/>
        </p:nvSpPr>
        <p:spPr>
          <a:xfrm>
            <a:off x="6172200" y="178308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13"/>
          <p:cNvSpPr/>
          <p:nvPr/>
        </p:nvSpPr>
        <p:spPr>
          <a:xfrm>
            <a:off x="6172200" y="2043360"/>
            <a:ext cx="2559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10b981"/>
                </a:solidFill>
                <a:latin typeface="Segoe UI"/>
              </a:rPr>
              <a:t>🤖 </a:t>
            </a:r>
            <a:r>
              <a:rPr b="1" lang="en-US" sz="1600" spc="-1" strike="noStrike">
                <a:solidFill>
                  <a:srgbClr val="10b981"/>
                </a:solidFill>
                <a:latin typeface="Segoe UI"/>
              </a:rPr>
              <a:t>Recomendação no Checkout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9" name="Rounded Rectangle 14"/>
          <p:cNvSpPr/>
          <p:nvPr/>
        </p:nvSpPr>
        <p:spPr>
          <a:xfrm>
            <a:off x="8915400" y="1783080"/>
            <a:ext cx="255996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875">
            <a:solidFill>
              <a:srgbClr val="f1c4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15"/>
          <p:cNvSpPr/>
          <p:nvPr/>
        </p:nvSpPr>
        <p:spPr>
          <a:xfrm>
            <a:off x="8915400" y="2165040"/>
            <a:ext cx="25599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f1c40f"/>
                </a:solidFill>
                <a:latin typeface="Segoe UI"/>
              </a:rPr>
              <a:t>📦 </a:t>
            </a:r>
            <a:r>
              <a:rPr b="1" lang="en-US" sz="1600" spc="-1" strike="noStrike">
                <a:solidFill>
                  <a:srgbClr val="f1c40f"/>
                </a:solidFill>
                <a:latin typeface="Segoe UI"/>
              </a:rPr>
              <a:t>Kits Promocionais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31" name="Rounded Rectangle 16"/>
          <p:cNvSpPr/>
          <p:nvPr/>
        </p:nvSpPr>
        <p:spPr>
          <a:xfrm>
            <a:off x="685800" y="3108960"/>
            <a:ext cx="10789560" cy="3062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TextBox 17"/>
          <p:cNvSpPr/>
          <p:nvPr/>
        </p:nvSpPr>
        <p:spPr>
          <a:xfrm>
            <a:off x="914400" y="3291840"/>
            <a:ext cx="1033236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Resultado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189 clientes → 4 clusters → 930 cestas → 3.804 regras no PostgreSQL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Lição 1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a granularidade do id_transacao deve ser o pedido, não o item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Lição 2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B2C e B2B exigem calibrações distintas de MIN_SUPPORT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Lição 3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o Lift garante associações genuínas, não apenas produtos populares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600" spc="-1" strike="noStrike">
                <a:solidFill>
                  <a:srgbClr val="00d4ff"/>
                </a:solidFill>
                <a:latin typeface="Calibri"/>
              </a:rPr>
              <a:t>▸ </a:t>
            </a:r>
            <a:r>
              <a:rPr b="1" lang="en-US" sz="1600" spc="-1" strike="noStrike">
                <a:solidFill>
                  <a:srgbClr val="00d4ff"/>
                </a:solidFill>
                <a:latin typeface="Segoe UI"/>
              </a:rPr>
              <a:t>Conclusão </a:t>
            </a:r>
            <a:r>
              <a:rPr b="0" lang="en-US" sz="1600" spc="-1" strike="noStrike">
                <a:solidFill>
                  <a:srgbClr val="ffffff"/>
                </a:solidFill>
                <a:latin typeface="Segoe UI"/>
              </a:rPr>
              <a:t>o dm_vendas agora alimenta motores de recomendação e decisões de marketing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PPTX_View_PLUS/7.4.0.3$Windows_X86_64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2026-10-14T22:14:06Z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